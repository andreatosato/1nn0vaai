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43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2']
Aprire con la domanda: una risposta fluida è davvero una buona risposta? Promessa: seguiremo una richiesta dall'utente al ledger. Dichiarare che scenario e dati sono sintetici, il catalogo è uno snapshot pubblico, mentre la telemetria LIVE è reale quando esplicitamente indicato.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2']
Coinvolgere il pubblico: quale errore è più grave, tono poco elegante, prezzo inventato o reso autorizzato per il motivo sbagliato? La risposta introduce la necessità di misurare qualità e non solo velocità/costo.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Spiegare gli expected facts prima di guardare l'output. Una risposta può essere persuasiva e sbagliata. La rubrica permette di ripetere il confronto e separa giudizio qualitativo da telemetria quantitativa.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Mostrare i tre percorsi: Inline e Skills hanno un solo agente modello Router; A2A delega agli specialisti remoti. I servizi business sono distinti dagli agenti. Il confronto tra architetture non isola automaticamente il solo overhead di 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4']
Messaggio: non esiste il prompt universalmente ottimale. Per 5.4 evidenziare la gestione esplicita della verbosità; per 5.6 partire da risultato/prove/vincoli; per GPT-6 governare autonomia, chiarimenti, skill e priorità. Non confondere istruzioni di verbosità con reasoning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4']
Astra: più capace per lavori difficili; Sol: complessi workflow agentici/coding; Luna: efficienza per task focalizzati e volume. Terra: la richiesta lo cita, ma la model card ufficiale non è disponibile: non inventare differenze. Nella demo LIVE sono verificati GPT-5 e Sol; Astra/Luna non sono ancora live-ready. Le tariffe mostrate sono orientative del listino OpenAI, non la fattura Azure.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Usare questa slide come checklist di prompt review. Un prompt lungo non è necessariamente cattivo; un prompt breve non è necessariamente economico se genera chiamate inutili, chiarimenti o output errati.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4']
Spiegare i bucket senza doppio conteggio. Input totale può includere cached e cache write; reasoning è incluso nell'output. Un valore assente non vale zero. La semantica del provider e della rate card deve essere congelata nella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Buone pratiche: prefisso stabile e identico, dati dinamici in coda, versionare prompt/tool, osservare hit rate. Non gonfiare il prompt solo per inseguire la cache. Una cache miss è spesso spiegabile da piccole variazioni o soglie.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Il nuovo input è input meno cached e cache writes quando i bucket sono inclusivi. Il ledger dell'app fail-closed se usage o pricing sono incompleti. Distinguere costo stimato dalla fattura Azure e budget applicativo da tetto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Scomporre la latenza. Prompt e output più lunghi tendono ad aumentare lavoro e costo, ma il trade-off reale va misurato. Nell'app la risposta è bufferizzata: il tempo alla prima risposta non equivale al time-to-first-token streaming del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Spiegare che A/C non è un confronto a una variabile. Usare chat nuove per ogni variante. Alternare ordine per ridurre bias temporali. Una singola risposta non crea una classifica.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13']
DEMO. Aprire Confronti guidati o Chat Inline. Usare una chat nuova. Eseguire 2–4 turni in base al tempo. Dopo ogni run aprire Traccia, Inspector, Token e costi. Se LIVE non è disponibile, usare run persistiti oppure MOCK dichiarando che non misura qualità/prestazioni del modello. Non ripetere alla cieca una richiesta dall'esito incerto.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2']
Compilare oralmente questa griglia con quanto osservato. Separare osservazioni dai risultati aggregati. Evidenziare che il confronto valido richiede ripetizioni e configurazione corrispondente.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Usare questa slide come sintesi rapida. Routing per task significa usare eval e fallback, non mandare automaticamente tutto al modello più economico. Gli errori devono restare visibili.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5' Q&amp;A · 00:55–01:00]
Chiudere chiedendo al pubblico quale costo o errore misurerebbe per primo. Riservare cinque minuti alle domande. Se la demo è andata lunga, usare soltanto la frase finale e la domanda.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-personal\1nn0vaAI\src\Observatory.Web\public\observatory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594360"/>
            <a:ext cx="71323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766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7EE0CE"/>
                </a:solidFill>
              </a:rPr>
              <a:t>AI OBSERVATORY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15727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Osservare l'AI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85800" y="2487168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EE0CE"/>
                </a:solidFill>
              </a:rPr>
              <a:t>per migliorare la qualità delle risposte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7EE0CE"/>
                </a:solidFill>
              </a:rPr>
              <a:t>e abbassare il costo dei modelli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85800" y="3977640"/>
            <a:ext cx="4663440" cy="0"/>
          </a:xfrm>
          <a:prstGeom prst="line">
            <a:avLst/>
          </a:prstGeom>
          <a:noFill/>
          <a:ln w="25400">
            <a:solidFill>
              <a:srgbClr val="3454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85800" y="42245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6EA"/>
                </a:solidFill>
              </a:rPr>
              <a:t>Un caso reale di chatbot · telemetria · latenza · token · costo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57332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Andrea Tosato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03920" y="576986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E0CE"/>
                </a:solidFill>
              </a:rPr>
              <a:t>60 minuti · talk + demo 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LA DOMANDA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La risposta è solo la punta dell’iceberg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Sotto il testo ci sono decisioni, tool, retry, token e denaro.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399032" y="2084832"/>
            <a:ext cx="987552" cy="9875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627632" y="235000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6B62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076B62"/>
                </a:solidFill>
              </a:rPr>
              <a:t>QUALITÀ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76732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Fatti corretti?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Policy rispettate?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Fonti verificabili?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33672" y="2084832"/>
            <a:ext cx="987552" cy="9875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462272" y="235000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6078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2A6078"/>
                </a:solidFill>
              </a:rPr>
              <a:t>LATENZA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376732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Quanto attendo?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Dove attendo?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È variabilità o regressione?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68312" y="2084832"/>
            <a:ext cx="987552" cy="9875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296912" y="235000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C6C07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5080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BC6C07"/>
                </a:solidFill>
              </a:rPr>
              <a:t>TOKEN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76732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Input utile?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Cache hit?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Output o reasoning?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902952" y="2084832"/>
            <a:ext cx="987552" cy="9875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12A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0131552" y="235000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12A28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89720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A12A28"/>
                </a:solidFill>
              </a:rPr>
              <a:t>COSTO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89720" y="376732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Per chiamata?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Per run?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Per esito corretto?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331720" y="523951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936"/>
                </a:solidFill>
              </a:rPr>
              <a:t>Ottimizzare una sola metrica può peggiorare il sistema.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02  ·  AI OBSERVATORY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00:02–00:04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METODO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Dalla sensazione a una rubrica verificabile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La telemetria spiega il percorso; la rubrica valuta l’esito.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58952" y="2029968"/>
            <a:ext cx="329184" cy="329184"/>
          </a:xfrm>
          <a:prstGeom prst="ellipse">
            <a:avLst/>
          </a:prstGeom>
          <a:solidFill>
            <a:srgbClr val="076B62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32104" y="208483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20116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Fatti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42032" y="20116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data consegna, stato, prezzo pagato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" y="2743200"/>
            <a:ext cx="329184" cy="329184"/>
          </a:xfrm>
          <a:prstGeom prst="ellipse">
            <a:avLst/>
          </a:prstGeom>
          <a:solidFill>
            <a:srgbClr val="076B62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32104" y="279806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98448" y="2724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Policy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42032" y="27249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14 giorni vs difetto entro 60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3456432"/>
            <a:ext cx="329184" cy="329184"/>
          </a:xfrm>
          <a:prstGeom prst="ellipse">
            <a:avLst/>
          </a:prstGeom>
          <a:solidFill>
            <a:srgbClr val="076B62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32104" y="351129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Contesto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42032" y="34381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correzione del motivo del reso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4169664"/>
            <a:ext cx="329184" cy="329184"/>
          </a:xfrm>
          <a:prstGeom prst="ellipse">
            <a:avLst/>
          </a:prstGeom>
          <a:solidFill>
            <a:srgbClr val="076B62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32104" y="42245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8448" y="415137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Grounding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42032" y="41513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prodotti reali, ID e prezzi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" y="4882896"/>
            <a:ext cx="329184" cy="329184"/>
          </a:xfrm>
          <a:prstGeom prst="ellipse">
            <a:avLst/>
          </a:prstGeom>
          <a:solidFill>
            <a:srgbClr val="076B62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832104" y="493776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98448" y="48646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Consenso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542032" y="48646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nessuna azione senza conferma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1965960"/>
            <a:ext cx="47091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647688" y="2130552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76B62"/>
                </a:solidFill>
              </a:rPr>
              <a:t>SCENARIO DI CORREZIONE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47688" y="2423160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342"/>
                </a:solidFill>
              </a:rPr>
              <a:t>Il caso ORD-1042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47688" y="2862072"/>
            <a:ext cx="4306824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A76"/>
                </a:solidFill>
              </a:rPr>
              <a:t>Listino: 29,99 USD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A76"/>
                </a:solidFill>
              </a:rPr>
              <a:t>Pagato: 19,99 USD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A76"/>
                </a:solidFill>
              </a:rPr>
              <a:t>Consegna: 5 settembre 2026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A76"/>
                </a:solidFill>
              </a:rPr>
              <a:t>Articolo outlet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A76"/>
                </a:solidFill>
              </a:rPr>
              <a:t>Il cliente prima parla di ripensamento, poi chiarisce che il prodotto era difettoso.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20840" y="4800600"/>
            <a:ext cx="1920240" cy="329184"/>
          </a:xfrm>
          <a:prstGeom prst="roundRect">
            <a:avLst>
              <a:gd name="adj" fmla="val 3333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793992" y="487375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6B62"/>
                </a:solidFill>
              </a:rPr>
              <a:t>QUALITÀ ≠ STILE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23960" y="4800600"/>
            <a:ext cx="2011680" cy="329184"/>
          </a:xfrm>
          <a:prstGeom prst="roundRect">
            <a:avLst>
              <a:gd name="adj" fmla="val 33333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8897112" y="487375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6C07"/>
                </a:solidFill>
              </a:rPr>
              <a:t>TOKEN ≠ QUALITÀ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03  ·  AI OBSERVATORY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00:04–00:07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OSSERVABILITÀ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Seguiamo ogni richiesta end-to-end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Inline, Skills e A2A condividono dominio e dati, ma non lo stesso percorso.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49808" y="2980944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UTENTE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domanda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278892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670048" y="298094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ROUTER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3310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prompt + history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205740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681728" y="22494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MODELLO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5786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inferenza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352044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681728" y="371246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TOOL / A2A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04164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delega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95160" y="278892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104888" y="298094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SERVIZI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86600" y="33101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Catalog · Orders · Returns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72600" y="278892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102936"/>
          </a:solidFill>
          <a:ln w="1524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482328" y="298094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0CE"/>
                </a:solidFill>
              </a:rPr>
              <a:t>TELEMETRIA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64040" y="33101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trace · usage · ledger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48840" y="3172968"/>
            <a:ext cx="384048" cy="219456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114800" y="2578608"/>
            <a:ext cx="384048" cy="219456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114800" y="3922776"/>
            <a:ext cx="384048" cy="219456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473952" y="3172968"/>
            <a:ext cx="457200" cy="219456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8851392" y="3172968"/>
            <a:ext cx="457200" cy="219456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148840" y="50749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342"/>
                </a:solidFill>
              </a:rPr>
              <a:t>Una delega, un retry o una history diversa cambiano il numero di inferenze.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04  ·  AI OBSERVATORY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00:07–00:10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PROMPTING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5.4 → 5.6 → 6: cambia il contratto, non solo il nome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Le guide evolvono da controllo della forma a obiettivi, prove e autonomia.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EAF3F7"/>
          </a:solidFill>
          <a:ln w="12700">
            <a:solidFill>
              <a:srgbClr val="2A6078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59536" y="217627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A6078"/>
                </a:solidFill>
              </a:rPr>
              <a:t>Forma e dettaglio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46888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342"/>
                </a:solidFill>
              </a:rPr>
              <a:t>GPT-5.4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2907792"/>
            <a:ext cx="2999232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Guida la verbosità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Separa dettaglio da reasoning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Adatta la risposta al task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681728" y="217627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76B62"/>
                </a:solidFill>
              </a:rPr>
              <a:t>Esito e prove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1728" y="246888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342"/>
                </a:solidFill>
              </a:rPr>
              <a:t>GPT-5.6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81728" y="2907792"/>
            <a:ext cx="2999232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Dichiara risultato e vincoli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Chiedi evidenze e stop condition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Rimuovi ridondanza per gruppi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201168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503920" y="217627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C6C07"/>
                </a:solidFill>
              </a:rPr>
              <a:t>Autonomia governata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246888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342"/>
                </a:solidFill>
              </a:rPr>
              <a:t>GPT-6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2907792"/>
            <a:ext cx="2999232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Dichiara margine di autonomia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Chiarisci quando chiedere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Controlla skill e priorità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8155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936"/>
                </a:solidFill>
              </a:rPr>
              <a:t>Non migrare i prompt con “trova e sostituisci”: rivaluta istruzioni, tool e criteri di completamento.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" y="614476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718690"/>
                </a:solidFill>
              </a:rPr>
              <a:t>Fonti: guide ufficiali OpenAI GPT-5.4, GPT-5.6 Sol e GPT-6, verificate il 24–25/09/2026.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05  ·  AI OBSERVATORY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00:10–00:14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FAMIGLIA GPT-6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Astra, Sol, Luna… e Terra?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Stessa famiglia non significa stesso profilo operativo.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2606040" cy="3639312"/>
          </a:xfrm>
          <a:prstGeom prst="roundRect">
            <a:avLst>
              <a:gd name="adj" fmla="val 2807"/>
            </a:avLst>
          </a:prstGeom>
          <a:solidFill>
            <a:srgbClr val="FFF1ED"/>
          </a:solidFill>
          <a:ln w="12700">
            <a:solidFill>
              <a:srgbClr val="A12A28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04088" y="215798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A12A28"/>
                </a:solidFill>
              </a:rPr>
              <a:t>Massima capacità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" y="2450592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342"/>
                </a:solidFill>
              </a:rPr>
              <a:t>ASTRA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04088" y="2889504"/>
            <a:ext cx="2203704" cy="2596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Lavoro end-to-end difficile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reasoning, coding, ricerca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Tariffe listino: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$10 / $1 / $50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196596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96112" y="51480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12A28"/>
                </a:solidFill>
              </a:rPr>
              <a:t>INPUT / CACHE / OUTPUT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10712" y="1993392"/>
            <a:ext cx="2606040" cy="3639312"/>
          </a:xfrm>
          <a:prstGeom prst="roundRect">
            <a:avLst>
              <a:gd name="adj" fmla="val 2807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611880" y="215798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C6C07"/>
                </a:solidFill>
              </a:rPr>
              <a:t>Agentic &amp; coding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1880" y="2450592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342"/>
                </a:solidFill>
              </a:rPr>
              <a:t>SOL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611880" y="2889504"/>
            <a:ext cx="2203704" cy="2596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Workflow complessi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strumenti e contesto lungo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Tariffe listino: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$2 / $0,2 / $10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30752" y="5074920"/>
            <a:ext cx="196596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803904" y="51480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6C07"/>
                </a:solidFill>
              </a:rPr>
              <a:t>INPUT / CACHE / OUTPUT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18504" y="1993392"/>
            <a:ext cx="2606040" cy="3639312"/>
          </a:xfrm>
          <a:prstGeom prst="roundRect">
            <a:avLst>
              <a:gd name="adj" fmla="val 2807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519672" y="215798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76B62"/>
                </a:solidFill>
              </a:rPr>
              <a:t>Efficienza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19672" y="2450592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342"/>
                </a:solidFill>
              </a:rPr>
              <a:t>LUNA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19672" y="2889504"/>
            <a:ext cx="2203704" cy="2596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Task focalizzati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alto volume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Tariffe listino: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$0,1 / $0,01 / $0,5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38544" y="5074920"/>
            <a:ext cx="196596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711696" y="51480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6B62"/>
                </a:solidFill>
              </a:rPr>
              <a:t>INPUT / CACHE / OUTPUT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226296" y="1993392"/>
            <a:ext cx="2606040" cy="3639312"/>
          </a:xfrm>
          <a:prstGeom prst="roundRect">
            <a:avLst>
              <a:gd name="adj" fmla="val 2807"/>
            </a:avLst>
          </a:prstGeom>
          <a:solidFill>
            <a:srgbClr val="EEF2F4"/>
          </a:solidFill>
          <a:ln w="12700">
            <a:solidFill>
              <a:srgbClr val="526A76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427464" y="215798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526A76"/>
                </a:solidFill>
              </a:rPr>
              <a:t>Non verificato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27464" y="2450592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342"/>
                </a:solidFill>
              </a:rPr>
              <a:t>TERRA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427464" y="2889504"/>
            <a:ext cx="2203704" cy="2596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Nessuna model card ufficiale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reperita al 25/09/2026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Tariffe listino: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NON ASSUMERE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546336" y="5074920"/>
            <a:ext cx="196596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9619488" y="51480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6A76"/>
                </a:solidFill>
              </a:rPr>
              <a:t>VERIFICA PRIMA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25880" y="5815584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936"/>
                </a:solidFill>
              </a:rPr>
              <a:t>Scegli per task + SLA + qualità accettabile. Non dal prezzo per token isolato.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21792" y="614476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718690"/>
                </a:solidFill>
              </a:rPr>
              <a:t>Listino OpenAI Standard per 1M token, 25/09/2026. Cache write esclusa dalla terna. Oltre 272K input: tier maggiorato. Verificare sempre Azure/deployment.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06  ·  AI OBSERVATORY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00:14–00:18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PROMPT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Un prompt utile è un contratto osservabile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Riduci ambiguità prima di ridurre token.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199339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41248" y="224942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1945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RISULTATO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72768" y="2551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Cosa deve essere vero alla fine?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99339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681728" y="224942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13248" y="21945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CONTESTO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13248" y="2551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Quali fatti servono davvero?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21040" y="199339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522208" y="224942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686800" y="24231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53728" y="21945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VINCOLI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53728" y="2551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Policy, sicurezza, consenso, budget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50215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841248" y="375818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005840" y="393192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72768" y="37033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PROVE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72768" y="4059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Fonti, tool, dati da citare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80560" y="350215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681728" y="375818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846320" y="393192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13248" y="37033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STOP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13248" y="4059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Quando completare o chiedere chiarimenti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21040" y="350215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8522208" y="375818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8686800" y="393192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53728" y="37033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FORMATO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53728" y="4059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Struttura e livello di dettaglio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965960" y="5321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12A28"/>
                </a:solidFill>
              </a:rPr>
              <a:t>Tagliare prima di chiarire = risparmiare token per ottenere più retry.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07  ·  AI OBSERVATORY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00:18–00:21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ECONOMIA DEI TOKEN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Input, cache e output non costano allo stesso modo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Il ledger deve conservare contatori e tariffa applicata per ogni chiamata.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5029200" cy="960120"/>
          </a:xfrm>
          <a:prstGeom prst="rect">
            <a:avLst/>
          </a:prstGeom>
          <a:solidFill>
            <a:srgbClr val="2A607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04672" y="2450592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NUOVO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4015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istruzioni dinamiche · history · tool result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2240280"/>
            <a:ext cx="1828800" cy="960120"/>
          </a:xfrm>
          <a:prstGeom prst="rect">
            <a:avLst/>
          </a:prstGeom>
          <a:solidFill>
            <a:srgbClr val="076B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833872" y="24505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IN CACHE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prefisso stabile riusato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0" y="2240280"/>
            <a:ext cx="1097280" cy="960120"/>
          </a:xfrm>
          <a:prstGeom prst="rect">
            <a:avLst/>
          </a:prstGeom>
          <a:solidFill>
            <a:srgbClr val="BC6C0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662672" y="245059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CACHE WRITE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589520" y="34015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prefisso scritto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0" y="2240280"/>
            <a:ext cx="2057400" cy="960120"/>
          </a:xfrm>
          <a:prstGeom prst="rect">
            <a:avLst/>
          </a:prstGeom>
          <a:solidFill>
            <a:srgbClr val="A12A2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759952" y="245059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34015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risposta + reasoning incluso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" y="4224528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50976" y="444398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Cache hit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0976" y="4910328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Riduce il costo del prefisso già noto. Non riduce automaticamente output, tool o retry.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4224528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590288" y="444398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Cache write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0288" y="4910328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Può avere una tariffa propria. Nel ledger Sol sostituisce il normale costo input.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28432" y="4224528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1ED"/>
          </a:solidFill>
          <a:ln w="12700">
            <a:solidFill>
              <a:srgbClr val="A12A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229600" y="444398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Reasoning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0" y="4910328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È un sottoinsieme dell’output: non sommarlo una seconda volta.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08  ·  AI OBSERVATORY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00:21–00:25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PROMPT CACHING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La cache premia la stabilità del prefisso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Metti il contenuto stabile prima; sposta il dinamico dopo.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2395728"/>
            <a:ext cx="2057400" cy="777240"/>
          </a:xfrm>
          <a:prstGeom prst="roundRect">
            <a:avLst>
              <a:gd name="adj" fmla="val 3529"/>
            </a:avLst>
          </a:prstGeom>
          <a:solidFill>
            <a:srgbClr val="076B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33856" y="2670048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/ POLICY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2395728"/>
            <a:ext cx="1097280" cy="777240"/>
          </a:xfrm>
          <a:prstGeom prst="roundRect">
            <a:avLst>
              <a:gd name="adj" fmla="val 3529"/>
            </a:avLst>
          </a:prstGeom>
          <a:solidFill>
            <a:srgbClr val="076B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191256" y="267004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TOOLS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2395728"/>
            <a:ext cx="1828800" cy="777240"/>
          </a:xfrm>
          <a:prstGeom prst="roundRect">
            <a:avLst>
              <a:gd name="adj" fmla="val 3529"/>
            </a:avLst>
          </a:prstGeom>
          <a:solidFill>
            <a:srgbClr val="076B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288536" y="267004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ESEMPI STABILI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2395728"/>
            <a:ext cx="2011680" cy="777240"/>
          </a:xfrm>
          <a:prstGeom prst="roundRect">
            <a:avLst>
              <a:gd name="adj" fmla="val 3529"/>
            </a:avLst>
          </a:prstGeom>
          <a:solidFill>
            <a:srgbClr val="2A607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117336" y="2670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HISTORY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92440" y="2395728"/>
            <a:ext cx="1463040" cy="777240"/>
          </a:xfrm>
          <a:prstGeom prst="roundRect">
            <a:avLst>
              <a:gd name="adj" fmla="val 3529"/>
            </a:avLst>
          </a:prstGeom>
          <a:solidFill>
            <a:srgbClr val="BC6C0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29016" y="26700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DOMANDA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43000" y="3456432"/>
            <a:ext cx="4892040" cy="0"/>
          </a:xfrm>
          <a:prstGeom prst="line">
            <a:avLst/>
          </a:prstGeom>
          <a:noFill/>
          <a:ln w="38100">
            <a:solidFill>
              <a:srgbClr val="076B6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468880" y="36393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76B62"/>
                </a:solidFill>
              </a:rPr>
              <a:t>PREFISSO RIUSABILE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4279392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86968" y="44988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342"/>
                </a:solidFill>
              </a:rPr>
              <a:t>Stabile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86968" y="496519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A76"/>
                </a:solidFill>
              </a:rPr>
              <a:t>system, policy e tool schema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47872" y="4279392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749040" y="44988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342"/>
                </a:solidFill>
              </a:rPr>
              <a:t>Identico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49040" y="496519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A76"/>
                </a:solidFill>
              </a:rPr>
              <a:t>non cambiare spazi/versioni inutilmente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9944" y="4279392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611112" y="44988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342"/>
                </a:solidFill>
              </a:rPr>
              <a:t>Lungo abbastanza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11112" y="496519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A76"/>
                </a:solidFill>
              </a:rPr>
              <a:t>verificare soglie e comportamento provider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272016" y="4279392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473184" y="44988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342"/>
                </a:solidFill>
              </a:rPr>
              <a:t>Misurato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473184" y="496519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A76"/>
                </a:solidFill>
              </a:rPr>
              <a:t>cache hit rate, costo e latenza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342"/>
                </a:solidFill>
              </a:rPr>
              <a:t>Cache miss ≠ bug. È un segnale da spiegare.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09  ·  AI OBSERVATORY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00:25–00:28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CONTABILITÀ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Il costo corretto è una formula per chiamata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Poi si aggrega per run, conversazione ed esito.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10652760" cy="1298448"/>
          </a:xfrm>
          <a:prstGeom prst="roundRect">
            <a:avLst>
              <a:gd name="adj" fmla="val 3521"/>
            </a:avLst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97280" y="2587752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((nuovo input × Rᵢ) + (cached × R꜀) + (write × Rw) + (output × Rₒ)) / 1.000.000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3886200"/>
            <a:ext cx="257860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59536" y="410565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342"/>
                </a:solidFill>
              </a:rPr>
              <a:t>CHIAMATA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4572000"/>
            <a:ext cx="21762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Quanto costa questa inferenza?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3886200"/>
            <a:ext cx="257860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721608" y="410565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342"/>
                </a:solidFill>
              </a:rPr>
              <a:t>RUN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21608" y="4572000"/>
            <a:ext cx="21762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Tool + retry + deleghe?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82512" y="3886200"/>
            <a:ext cx="257860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583680" y="410565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342"/>
                </a:solidFill>
              </a:rPr>
              <a:t>CONVERSAZIONE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4572000"/>
            <a:ext cx="21762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Quanto costa il percorso completo?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3886200"/>
            <a:ext cx="2578608" cy="1353312"/>
          </a:xfrm>
          <a:prstGeom prst="roundRect">
            <a:avLst>
              <a:gd name="adj" fmla="val 5405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445752" y="410565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342"/>
                </a:solidFill>
              </a:rPr>
              <a:t>ESITO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45752" y="4572000"/>
            <a:ext cx="21762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Quanto costa una risposta corretta?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56052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12A28"/>
                </a:solidFill>
              </a:rPr>
              <a:t>Costo assente = sconosciuto, non zero.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10  ·  AI OBSERVATORY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00:28–00:31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LATENZA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Prompt lungo: costo certo, latenza da misurare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La durata end-to-end è composta da più segmenti.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143000" y="2240280"/>
            <a:ext cx="822960" cy="658368"/>
          </a:xfrm>
          <a:prstGeom prst="rect">
            <a:avLst/>
          </a:prstGeom>
          <a:solidFill>
            <a:srgbClr val="526A7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43000" y="24780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QUEUE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2240280"/>
            <a:ext cx="2103120" cy="658368"/>
          </a:xfrm>
          <a:prstGeom prst="rect">
            <a:avLst/>
          </a:prstGeom>
          <a:solidFill>
            <a:srgbClr val="2A607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965960" y="247802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69080" y="2240280"/>
            <a:ext cx="1737360" cy="658368"/>
          </a:xfrm>
          <a:prstGeom prst="rect">
            <a:avLst/>
          </a:prstGeom>
          <a:solidFill>
            <a:srgbClr val="BC6C0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069080" y="24780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REASONING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2240280"/>
            <a:ext cx="2377440" cy="658368"/>
          </a:xfrm>
          <a:prstGeom prst="rect">
            <a:avLst/>
          </a:prstGeom>
          <a:solidFill>
            <a:srgbClr val="076B6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806440" y="247802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TOOLS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83880" y="2240280"/>
            <a:ext cx="1325880" cy="658368"/>
          </a:xfrm>
          <a:prstGeom prst="rect">
            <a:avLst/>
          </a:prstGeom>
          <a:solidFill>
            <a:srgbClr val="A12A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83880" y="24780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3108960"/>
            <a:ext cx="8366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526A76"/>
                </a:solidFill>
              </a:rPr>
              <a:t>tempo end-to-end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" y="4041648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005840" y="426110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Più contesto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727448"/>
            <a:ext cx="299923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+ prefill · + costo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ma meno lookup mancanti?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26864" y="4041648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828032" y="426110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Più spiegazione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28032" y="4727448"/>
            <a:ext cx="299923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+ output · + tempo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ma più chiarezza?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49056" y="4041648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8650224" y="426110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Più autonomia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50224" y="4727448"/>
            <a:ext cx="299923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+ tool/retry possibili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ma meno handoff umano?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965960" y="5669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12A28"/>
                </a:solidFill>
              </a:rPr>
              <a:t>Nella demo la “prima risposta” è bufferizzata: non chiamarla TTFT del provider.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11  ·  AI OBSERVATORY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00:31–00:34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ESPERIMENTI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Cambiare una variabile. Ripetere. Conservare evidenza.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BAD vs GOOD, GOOD vs ridondante, GPT-5 vs GPT-6 Sol.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280160" y="2084832"/>
            <a:ext cx="749808" cy="749808"/>
          </a:xfrm>
          <a:prstGeom prst="ellipse">
            <a:avLst/>
          </a:prstGeom>
          <a:solidFill>
            <a:srgbClr val="10293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444752" y="2340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081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6B62"/>
                </a:solidFill>
              </a:rPr>
              <a:t>FISSA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3342"/>
                </a:solidFill>
              </a:rPr>
              <a:t>scenario · dati · limiti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42616" y="2340864"/>
            <a:ext cx="256032" cy="201168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593592" y="2084832"/>
            <a:ext cx="749808" cy="749808"/>
          </a:xfrm>
          <a:prstGeom prst="ellipse">
            <a:avLst/>
          </a:prstGeom>
          <a:solidFill>
            <a:srgbClr val="10293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758184" y="2340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07792" y="3081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6B62"/>
                </a:solidFill>
              </a:rPr>
              <a:t>VARIA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07792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3342"/>
                </a:solidFill>
              </a:rPr>
              <a:t>un solo fattore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6048" y="2340864"/>
            <a:ext cx="256032" cy="201168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907024" y="2084832"/>
            <a:ext cx="749808" cy="749808"/>
          </a:xfrm>
          <a:prstGeom prst="ellipse">
            <a:avLst/>
          </a:prstGeom>
          <a:solidFill>
            <a:srgbClr val="10293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071616" y="2340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21224" y="3081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6B62"/>
                </a:solidFill>
              </a:rPr>
              <a:t>RIPETI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21224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3342"/>
                </a:solidFill>
              </a:rPr>
              <a:t>≥ 3 run · ordine alternato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69480" y="2340864"/>
            <a:ext cx="256032" cy="201168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220456" y="2084832"/>
            <a:ext cx="749808" cy="749808"/>
          </a:xfrm>
          <a:prstGeom prst="ellipse">
            <a:avLst/>
          </a:prstGeom>
          <a:solidFill>
            <a:srgbClr val="10293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385048" y="2340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34656" y="3081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6B62"/>
                </a:solidFill>
              </a:rPr>
              <a:t>VALUTA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34656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3342"/>
                </a:solidFill>
              </a:rPr>
              <a:t>rubrica + telemetria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82912" y="2340864"/>
            <a:ext cx="256032" cy="201168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10533888" y="2084832"/>
            <a:ext cx="749808" cy="749808"/>
          </a:xfrm>
          <a:prstGeom prst="ellipse">
            <a:avLst/>
          </a:prstGeom>
          <a:solidFill>
            <a:srgbClr val="076B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0698480" y="2340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48088" y="3081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6B62"/>
                </a:solidFill>
              </a:rPr>
              <a:t>CONSERVA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48088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3342"/>
                </a:solidFill>
              </a:rPr>
              <a:t>prompt · run · tariffa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97280" y="4407408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EAF3F7"/>
          </a:solidFill>
          <a:ln w="1270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1298448" y="46268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A/B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98448" y="5093208"/>
            <a:ext cx="2660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BAD → GOOD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cambia il profilo prompt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53712" y="4407408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754880" y="46268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B/C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54880" y="5093208"/>
            <a:ext cx="2660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GOOD → ridondante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cambia un solo blocco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4407408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8202168" y="46268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MODELLO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02168" y="5093208"/>
            <a:ext cx="2660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GPT-5 → GPT-6 Sol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stesso task e limiti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12  ·  AI OBSERVATORY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00:34–00:37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DEMO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ORD-1042: osserviamo una correzione in tempo reale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La chat è l’inizio. Traccia, Inspector e ledger sono la prova.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85800" y="193852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" y="21214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6B62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20939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342"/>
                </a:solidFill>
              </a:rPr>
              <a:t>Dov’è il mio ordine ORD-1042?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85800" y="26883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41248" y="2871216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6B62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8437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342"/>
                </a:solidFill>
              </a:rPr>
              <a:t>Posso restituirlo? Non l’ho usato.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5800" y="343814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41248" y="362102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6B62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3593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3342"/>
                </a:solidFill>
              </a:rPr>
              <a:t>Correggo: era difettoso al primo utilizzo.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418795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41248" y="43708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6B62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43434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342"/>
                </a:solidFill>
              </a:rPr>
              <a:t>Consigliami una camicia sotto i 40 $.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967728" y="1938528"/>
            <a:ext cx="4343400" cy="3611880"/>
          </a:xfrm>
          <a:prstGeom prst="roundRect">
            <a:avLst>
              <a:gd name="adj" fmla="val 2025"/>
            </a:avLst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168896" y="210312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7EE0CE"/>
                </a:solidFill>
              </a:rPr>
              <a:t>NON SOLO LA CHAT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68896" y="2395728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Cosa guardiamo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68896" y="2834640"/>
            <a:ext cx="3941064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① configurazione effettiva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② tool e agenti invocati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③ numero di chiamate e retry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④ input / cached / output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⑤ durata e costo per run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⑥ fatti e policy della risposta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5257800"/>
            <a:ext cx="1143000" cy="329184"/>
          </a:xfrm>
          <a:prstGeom prst="roundRect">
            <a:avLst>
              <a:gd name="adj" fmla="val 33333"/>
            </a:avLst>
          </a:prstGeom>
          <a:solidFill>
            <a:srgbClr val="FFF1ED"/>
          </a:solidFill>
          <a:ln w="12700">
            <a:solidFill>
              <a:srgbClr val="FFF1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914400" y="5330952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12A28"/>
                </a:solidFill>
              </a:rPr>
              <a:t>LIVE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48840" y="53218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Consenso manuale · budget 0,10 USD/run · nessuna azione reale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13  ·  AI OBSERVATORY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00:37–00:50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LETTURA DEI RISULTATI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La tabella che impedisce conclusioni premature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Compilare solo con run realmente osservati.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1874520" cy="53035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9496" y="2212848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VARIANTE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95728" y="2011680"/>
            <a:ext cx="2057400" cy="53035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432304" y="221284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QUALITÀ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777240" cy="53035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17136" y="2212848"/>
            <a:ext cx="704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CALL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85232" y="2011680"/>
            <a:ext cx="2240280" cy="53035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21808" y="2212848"/>
            <a:ext cx="2167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 / OUTPUT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43800" y="2011680"/>
            <a:ext cx="1938528" cy="53035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580376" y="221284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LATENZA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09760" y="2011680"/>
            <a:ext cx="2148840" cy="53035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546336" y="2212848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COSTO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18745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57784" y="283464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342"/>
                </a:solidFill>
              </a:rPr>
              <a:t>GPT-5 / GOOD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95728" y="2542032"/>
            <a:ext cx="20574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450592" y="283464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2542032"/>
            <a:ext cx="77724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535424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85232" y="2542032"/>
            <a:ext cx="22402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340096" y="2834640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43800" y="2542032"/>
            <a:ext cx="1938528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7598664" y="2834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509760" y="2542032"/>
            <a:ext cx="214884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9564624" y="2834640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383280"/>
            <a:ext cx="1874520" cy="84124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57784" y="3675888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342"/>
                </a:solidFill>
              </a:rPr>
              <a:t>GPT-6 Sol / GOOD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95728" y="3383280"/>
            <a:ext cx="2057400" cy="84124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2450592" y="367588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80560" y="3383280"/>
            <a:ext cx="777240" cy="84124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535424" y="3675888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85232" y="3383280"/>
            <a:ext cx="2240280" cy="84124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5340096" y="367588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43800" y="3383280"/>
            <a:ext cx="1938528" cy="84124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598664" y="3675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509760" y="3383280"/>
            <a:ext cx="2148840" cy="84124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9564624" y="3675888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4224528"/>
            <a:ext cx="18745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557784" y="45171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342"/>
                </a:solidFill>
              </a:rPr>
              <a:t>GOOD ridondante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95728" y="4224528"/>
            <a:ext cx="205740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2450592" y="451713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80560" y="4224528"/>
            <a:ext cx="77724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4535424" y="4517136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85232" y="4224528"/>
            <a:ext cx="22402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5340096" y="4517136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543800" y="4224528"/>
            <a:ext cx="1938528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7598664" y="4517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509760" y="4224528"/>
            <a:ext cx="214884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9564624" y="4517136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A76"/>
                </a:solidFill>
              </a:rPr>
              <a:t>DA MISURARE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8368" y="5413248"/>
            <a:ext cx="2560320" cy="329184"/>
          </a:xfrm>
          <a:prstGeom prst="roundRect">
            <a:avLst>
              <a:gd name="adj" fmla="val 3333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731520" y="548640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6B62"/>
                </a:solidFill>
              </a:rPr>
              <a:t>MOCK non è evidenza di qualità o latenza modello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511296" y="5413248"/>
            <a:ext cx="2560320" cy="329184"/>
          </a:xfrm>
          <a:prstGeom prst="roundRect">
            <a:avLst>
              <a:gd name="adj" fmla="val 33333"/>
            </a:avLst>
          </a:prstGeom>
          <a:solidFill>
            <a:srgbClr val="FFF1ED"/>
          </a:solidFill>
          <a:ln w="12700">
            <a:solidFill>
              <a:srgbClr val="FFF1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3584448" y="548640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12A28"/>
                </a:solidFill>
              </a:rPr>
              <a:t>Dato mancante ≠ zero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64224" y="5413248"/>
            <a:ext cx="2560320" cy="329184"/>
          </a:xfrm>
          <a:prstGeom prst="roundRect">
            <a:avLst>
              <a:gd name="adj" fmla="val 3333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6437376" y="548640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6B62"/>
                </a:solidFill>
              </a:rPr>
              <a:t>Costo stimato ≠ fattura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217152" y="5413248"/>
            <a:ext cx="2560320" cy="329184"/>
          </a:xfrm>
          <a:prstGeom prst="roundRect">
            <a:avLst>
              <a:gd name="adj" fmla="val 3333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9290304" y="548640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6B62"/>
                </a:solidFill>
              </a:rPr>
              <a:t>Una run ≠ benchmark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14  ·  AI OBSERVATORY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00:50–00:52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PRATICHE OPERATIVE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Sette modi per spendere meno senza “tagliare qualità”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Ottimizza il percorso, non soltanto il prezzo del modello.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85800" y="1975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7512" y="190195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58952" y="208483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90195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Recupera dati con tool mirati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585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non copiare il catalogo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" y="290779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58952" y="3090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90779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Compatta la history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2644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ma conserva i fatti necessari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9867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7512" y="391363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58952" y="40965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391363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Stabilizza il prefisso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27024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e misura la cache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992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7512" y="491947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58952" y="51023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17320" y="491947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Contratto di output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2760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forma e dettaglio espliciti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1975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53912" y="190195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245352" y="208483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190195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Limita call e retry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2585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con errori visibili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29809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53912" y="290779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245352" y="3090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290779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Route per task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32644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Luna/Sol/Astra dopo eval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39867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53912" y="391363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245352" y="40965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03720" y="391363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Misura costo per esito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427024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non solo per token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507492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446520" y="52943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6B62"/>
                </a:solidFill>
              </a:rPr>
              <a:t>Prima: correttezza e sicurezza. Poi: costo.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6A76"/>
                </a:solidFill>
              </a:rPr>
              <a:t>15  ·  AI OBSERVATORY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601200" y="6446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76B62"/>
                </a:solidFill>
              </a:rPr>
              <a:t>00:52–00:55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-personal\1nn0vaAI\src\Observatory.Web\public\observatory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530352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6949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EE0CE"/>
                </a:solidFill>
              </a:rPr>
              <a:t>IL CICLO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13232" y="1517904"/>
            <a:ext cx="10744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</a:rPr>
              <a:t>Osserva → ipotizza → cambia una variabile → verifica → conserva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1874520" y="3319272"/>
            <a:ext cx="2468880" cy="932688"/>
          </a:xfrm>
          <a:prstGeom prst="roundRect">
            <a:avLst>
              <a:gd name="adj" fmla="val 7843"/>
            </a:avLst>
          </a:prstGeom>
          <a:solidFill>
            <a:srgbClr val="076B62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1874520" y="3566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EE0CE"/>
                </a:solidFill>
              </a:rPr>
              <a:t>QUALITÀ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74520" y="386791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prima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00600" y="3319272"/>
            <a:ext cx="2468880" cy="932688"/>
          </a:xfrm>
          <a:prstGeom prst="roundRect">
            <a:avLst>
              <a:gd name="adj" fmla="val 7843"/>
            </a:avLst>
          </a:prstGeom>
          <a:solidFill>
            <a:srgbClr val="1E404D"/>
          </a:solidFill>
          <a:ln w="12700">
            <a:solidFill>
              <a:srgbClr val="3454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800600" y="3566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EE0CE"/>
                </a:solidFill>
              </a:rPr>
              <a:t>LATENZA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0" y="386791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scomposta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26680" y="3319272"/>
            <a:ext cx="2468880" cy="932688"/>
          </a:xfrm>
          <a:prstGeom prst="roundRect">
            <a:avLst>
              <a:gd name="adj" fmla="val 7843"/>
            </a:avLst>
          </a:prstGeom>
          <a:solidFill>
            <a:srgbClr val="1E404D"/>
          </a:solidFill>
          <a:ln w="12700">
            <a:solidFill>
              <a:srgbClr val="3454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7726680" y="3566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EE0CE"/>
                </a:solidFill>
              </a:rPr>
              <a:t>COSTO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26680" y="386791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per esito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417320" y="491947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EE0CE"/>
                </a:solidFill>
              </a:rPr>
              <a:t>Qual è la prima evidenza che manca nel vostro sistema?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4617720" y="5806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Domande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2218</Words>
  <Application>Microsoft Office PowerPoint</Application>
  <PresentationFormat>Widescreen</PresentationFormat>
  <Paragraphs>408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1nn0vaAI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Osservare l'AI per migliorare la qualità delle risposte e abbassare il costo dei modelli</dc:title>
  <dc:subject>Osservabilità, qualità, latenza e costo dei sistemi AI</dc:subject>
  <dc:creator>Andrea Tosato</dc:creator>
  <cp:lastModifiedBy>Andrea Tosato</cp:lastModifiedBy>
  <cp:revision>1</cp:revision>
  <dcterms:created xsi:type="dcterms:W3CDTF">2026-09-25T11:31:00Z</dcterms:created>
  <dcterms:modified xsi:type="dcterms:W3CDTF">2026-09-25T11:34:31Z</dcterms:modified>
</cp:coreProperties>
</file>