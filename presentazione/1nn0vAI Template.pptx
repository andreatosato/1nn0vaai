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  <p:sldMasterId id="2147483648" r:id="rId2"/>
  </p:sldMasterIdLst>
  <p:notesMasterIdLst>
    <p:notesMasterId r:id="rId26"/>
  </p:notesMasterIdLst>
  <p:handoutMasterIdLst>
    <p:handoutMasterId r:id="rId27"/>
  </p:handoutMasterIdLst>
  <p:sldIdLst>
    <p:sldId id="256" r:id="rId3"/>
    <p:sldId id="259" r:id="rId4"/>
    <p:sldId id="263" r:id="rId5"/>
    <p:sldId id="258" r:id="rId6"/>
    <p:sldId id="260" r:id="rId7"/>
    <p:sldId id="264" r:id="rId8"/>
    <p:sldId id="265" r:id="rId9"/>
    <p:sldId id="266" r:id="rId10"/>
    <p:sldId id="267" r:id="rId11"/>
    <p:sldId id="269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79" r:id="rId22"/>
    <p:sldId id="281" r:id="rId23"/>
    <p:sldId id="284" r:id="rId24"/>
    <p:sldId id="261" r:id="rId2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80B9"/>
    <a:srgbClr val="1B25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428" autoAdjust="0"/>
  </p:normalViewPr>
  <p:slideViewPr>
    <p:cSldViewPr snapToGrid="0">
      <p:cViewPr>
        <p:scale>
          <a:sx n="105" d="100"/>
          <a:sy n="105" d="100"/>
        </p:scale>
        <p:origin x="52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Parenzan" userId="a83bbb23f3e251dc" providerId="LiveId" clId="{5D234868-AD62-4683-8D45-4D00F848BDE7}"/>
    <pc:docChg chg="undo custSel modSld modMainMaster">
      <pc:chgData name="Marco Parenzan" userId="a83bbb23f3e251dc" providerId="LiveId" clId="{5D234868-AD62-4683-8D45-4D00F848BDE7}" dt="2026-07-28T10:58:58.623" v="143" actId="14100"/>
      <pc:docMkLst>
        <pc:docMk/>
      </pc:docMkLst>
      <pc:sldChg chg="addSp delSp modSp mod">
        <pc:chgData name="Marco Parenzan" userId="a83bbb23f3e251dc" providerId="LiveId" clId="{5D234868-AD62-4683-8D45-4D00F848BDE7}" dt="2026-07-28T10:52:02.719" v="78" actId="21"/>
        <pc:sldMkLst>
          <pc:docMk/>
          <pc:sldMk cId="333586773" sldId="259"/>
        </pc:sldMkLst>
        <pc:picChg chg="add del mod">
          <ac:chgData name="Marco Parenzan" userId="a83bbb23f3e251dc" providerId="LiveId" clId="{5D234868-AD62-4683-8D45-4D00F848BDE7}" dt="2026-07-28T10:52:02.719" v="78" actId="21"/>
          <ac:picMkLst>
            <pc:docMk/>
            <pc:sldMk cId="333586773" sldId="259"/>
            <ac:picMk id="4" creationId="{D80B529A-7299-FC5C-5AF2-40109CFE740B}"/>
          </ac:picMkLst>
        </pc:picChg>
      </pc:sldChg>
      <pc:sldChg chg="addSp delSp modSp mod">
        <pc:chgData name="Marco Parenzan" userId="a83bbb23f3e251dc" providerId="LiveId" clId="{5D234868-AD62-4683-8D45-4D00F848BDE7}" dt="2026-07-28T10:58:58.623" v="143" actId="14100"/>
        <pc:sldMkLst>
          <pc:docMk/>
          <pc:sldMk cId="2138703424" sldId="262"/>
        </pc:sldMkLst>
        <pc:spChg chg="add del mod">
          <ac:chgData name="Marco Parenzan" userId="a83bbb23f3e251dc" providerId="LiveId" clId="{5D234868-AD62-4683-8D45-4D00F848BDE7}" dt="2026-07-28T10:58:21.304" v="127" actId="21"/>
          <ac:spMkLst>
            <pc:docMk/>
            <pc:sldMk cId="2138703424" sldId="262"/>
            <ac:spMk id="2" creationId="{44C7F615-5987-690B-7262-B2C3CEF8CCD0}"/>
          </ac:spMkLst>
        </pc:spChg>
        <pc:spChg chg="add del mod">
          <ac:chgData name="Marco Parenzan" userId="a83bbb23f3e251dc" providerId="LiveId" clId="{5D234868-AD62-4683-8D45-4D00F848BDE7}" dt="2026-07-28T10:58:36.499" v="136" actId="21"/>
          <ac:spMkLst>
            <pc:docMk/>
            <pc:sldMk cId="2138703424" sldId="262"/>
            <ac:spMk id="4" creationId="{9B7F7EEE-881C-AAC8-F12E-BC70DA38D888}"/>
          </ac:spMkLst>
        </pc:spChg>
        <pc:picChg chg="add mod modCrop">
          <ac:chgData name="Marco Parenzan" userId="a83bbb23f3e251dc" providerId="LiveId" clId="{5D234868-AD62-4683-8D45-4D00F848BDE7}" dt="2026-07-28T10:58:58.623" v="143" actId="14100"/>
          <ac:picMkLst>
            <pc:docMk/>
            <pc:sldMk cId="2138703424" sldId="262"/>
            <ac:picMk id="6" creationId="{53E0EDDD-EA60-F92E-73FC-9B42347E2D2B}"/>
          </ac:picMkLst>
        </pc:picChg>
      </pc:sldChg>
      <pc:sldMasterChg chg="addSp delSp modSp mod modSldLayout">
        <pc:chgData name="Marco Parenzan" userId="a83bbb23f3e251dc" providerId="LiveId" clId="{5D234868-AD62-4683-8D45-4D00F848BDE7}" dt="2026-07-28T10:52:43.536" v="97" actId="1076"/>
        <pc:sldMasterMkLst>
          <pc:docMk/>
          <pc:sldMasterMk cId="3901749198" sldId="2147483648"/>
        </pc:sldMasterMkLst>
        <pc:picChg chg="add">
          <ac:chgData name="Marco Parenzan" userId="a83bbb23f3e251dc" providerId="LiveId" clId="{5D234868-AD62-4683-8D45-4D00F848BDE7}" dt="2026-07-22T22:27:23.088" v="2" actId="22"/>
          <ac:picMkLst>
            <pc:docMk/>
            <pc:sldMasterMk cId="3901749198" sldId="2147483648"/>
            <ac:picMk id="5" creationId="{8ECF1ECF-9408-8D15-6611-73B6DFF603B8}"/>
          </ac:picMkLst>
        </pc:picChg>
        <pc:picChg chg="add mod">
          <ac:chgData name="Marco Parenzan" userId="a83bbb23f3e251dc" providerId="LiveId" clId="{5D234868-AD62-4683-8D45-4D00F848BDE7}" dt="2026-07-28T10:52:43.536" v="97" actId="1076"/>
          <ac:picMkLst>
            <pc:docMk/>
            <pc:sldMasterMk cId="3901749198" sldId="2147483648"/>
            <ac:picMk id="6" creationId="{35792CD8-50C5-44E3-C959-55D495A1F8B3}"/>
          </ac:picMkLst>
        </pc:picChg>
        <pc:picChg chg="add mod">
          <ac:chgData name="Marco Parenzan" userId="a83bbb23f3e251dc" providerId="LiveId" clId="{5D234868-AD62-4683-8D45-4D00F848BDE7}" dt="2026-07-28T10:52:29.952" v="89" actId="1076"/>
          <ac:picMkLst>
            <pc:docMk/>
            <pc:sldMasterMk cId="3901749198" sldId="2147483648"/>
            <ac:picMk id="7" creationId="{E8DCBA60-C801-845D-F974-5BEF111B5867}"/>
          </ac:picMkLst>
        </pc:picChg>
        <pc:sldLayoutChg chg="modSp mod">
          <pc:chgData name="Marco Parenzan" userId="a83bbb23f3e251dc" providerId="LiveId" clId="{5D234868-AD62-4683-8D45-4D00F848BDE7}" dt="2026-07-22T22:31:37.979" v="74" actId="20577"/>
          <pc:sldLayoutMkLst>
            <pc:docMk/>
            <pc:sldMasterMk cId="3901749198" sldId="2147483648"/>
            <pc:sldLayoutMk cId="4037332946" sldId="2147483663"/>
          </pc:sldLayoutMkLst>
          <pc:spChg chg="mod">
            <ac:chgData name="Marco Parenzan" userId="a83bbb23f3e251dc" providerId="LiveId" clId="{5D234868-AD62-4683-8D45-4D00F848BDE7}" dt="2026-07-22T22:31:37.979" v="74" actId="20577"/>
            <ac:spMkLst>
              <pc:docMk/>
              <pc:sldMasterMk cId="3901749198" sldId="2147483648"/>
              <pc:sldLayoutMk cId="4037332946" sldId="2147483663"/>
              <ac:spMk id="3" creationId="{94AB9AEA-CF7C-AEA3-4992-A53A4A3481E7}"/>
            </ac:spMkLst>
          </pc:spChg>
        </pc:sldLayoutChg>
      </pc:sldMasterChg>
      <pc:sldMasterChg chg="modSldLayout">
        <pc:chgData name="Marco Parenzan" userId="a83bbb23f3e251dc" providerId="LiveId" clId="{5D234868-AD62-4683-8D45-4D00F848BDE7}" dt="2026-07-28T10:53:57.577" v="119" actId="22"/>
        <pc:sldMasterMkLst>
          <pc:docMk/>
          <pc:sldMasterMk cId="1642139397" sldId="2147483656"/>
        </pc:sldMasterMkLst>
        <pc:sldLayoutChg chg="addSp delSp modSp mod">
          <pc:chgData name="Marco Parenzan" userId="a83bbb23f3e251dc" providerId="LiveId" clId="{5D234868-AD62-4683-8D45-4D00F848BDE7}" dt="2026-07-28T10:53:46.470" v="115" actId="12789"/>
          <pc:sldLayoutMkLst>
            <pc:docMk/>
            <pc:sldMasterMk cId="1642139397" sldId="2147483656"/>
            <pc:sldLayoutMk cId="1443826280" sldId="2147483657"/>
          </pc:sldLayoutMkLst>
          <pc:picChg chg="mod">
            <ac:chgData name="Marco Parenzan" userId="a83bbb23f3e251dc" providerId="LiveId" clId="{5D234868-AD62-4683-8D45-4D00F848BDE7}" dt="2026-07-28T10:53:46.470" v="115" actId="12789"/>
            <ac:picMkLst>
              <pc:docMk/>
              <pc:sldMasterMk cId="1642139397" sldId="2147483656"/>
              <pc:sldLayoutMk cId="1443826280" sldId="2147483657"/>
              <ac:picMk id="4" creationId="{985113A5-DD14-41C6-D0CF-7E0455CED303}"/>
            </ac:picMkLst>
          </pc:picChg>
          <pc:picChg chg="ord">
            <ac:chgData name="Marco Parenzan" userId="a83bbb23f3e251dc" providerId="LiveId" clId="{5D234868-AD62-4683-8D45-4D00F848BDE7}" dt="2026-07-22T22:29:13.239" v="24" actId="167"/>
            <ac:picMkLst>
              <pc:docMk/>
              <pc:sldMasterMk cId="1642139397" sldId="2147483656"/>
              <pc:sldLayoutMk cId="1443826280" sldId="2147483657"/>
              <ac:picMk id="5" creationId="{3A332998-FE20-AD9F-C8B7-B122948EA76D}"/>
            </ac:picMkLst>
          </pc:picChg>
          <pc:picChg chg="add mod">
            <ac:chgData name="Marco Parenzan" userId="a83bbb23f3e251dc" providerId="LiveId" clId="{5D234868-AD62-4683-8D45-4D00F848BDE7}" dt="2026-07-28T10:53:46.470" v="115" actId="12789"/>
            <ac:picMkLst>
              <pc:docMk/>
              <pc:sldMasterMk cId="1642139397" sldId="2147483656"/>
              <pc:sldLayoutMk cId="1443826280" sldId="2147483657"/>
              <ac:picMk id="7" creationId="{BBE21080-2E0C-87CC-621B-229CF116B65F}"/>
            </ac:picMkLst>
          </pc:picChg>
          <pc:picChg chg="add mod">
            <ac:chgData name="Marco Parenzan" userId="a83bbb23f3e251dc" providerId="LiveId" clId="{5D234868-AD62-4683-8D45-4D00F848BDE7}" dt="2026-07-28T10:53:46.470" v="115" actId="12789"/>
            <ac:picMkLst>
              <pc:docMk/>
              <pc:sldMasterMk cId="1642139397" sldId="2147483656"/>
              <pc:sldLayoutMk cId="1443826280" sldId="2147483657"/>
              <ac:picMk id="8" creationId="{F6B07E5B-AB6C-E168-2EAE-06637910F525}"/>
            </ac:picMkLst>
          </pc:picChg>
          <pc:picChg chg="add mod">
            <ac:chgData name="Marco Parenzan" userId="a83bbb23f3e251dc" providerId="LiveId" clId="{5D234868-AD62-4683-8D45-4D00F848BDE7}" dt="2026-07-28T10:53:46.470" v="115" actId="12789"/>
            <ac:picMkLst>
              <pc:docMk/>
              <pc:sldMasterMk cId="1642139397" sldId="2147483656"/>
              <pc:sldLayoutMk cId="1443826280" sldId="2147483657"/>
              <ac:picMk id="9" creationId="{2CAAEFDA-1DD6-4A29-1688-306BAE7BEB73}"/>
            </ac:picMkLst>
          </pc:picChg>
          <pc:picChg chg="add mod modCrop">
            <ac:chgData name="Marco Parenzan" userId="a83bbb23f3e251dc" providerId="LiveId" clId="{5D234868-AD62-4683-8D45-4D00F848BDE7}" dt="2026-07-22T22:30:55.138" v="62" actId="1076"/>
            <ac:picMkLst>
              <pc:docMk/>
              <pc:sldMasterMk cId="1642139397" sldId="2147483656"/>
              <pc:sldLayoutMk cId="1443826280" sldId="2147483657"/>
              <ac:picMk id="13" creationId="{B564FF1B-4407-88CF-4098-02DBF5337954}"/>
            </ac:picMkLst>
          </pc:picChg>
        </pc:sldLayoutChg>
        <pc:sldLayoutChg chg="addSp delSp modSp mod">
          <pc:chgData name="Marco Parenzan" userId="a83bbb23f3e251dc" providerId="LiveId" clId="{5D234868-AD62-4683-8D45-4D00F848BDE7}" dt="2026-07-28T10:53:53.902" v="117" actId="22"/>
          <pc:sldLayoutMkLst>
            <pc:docMk/>
            <pc:sldMasterMk cId="1642139397" sldId="2147483656"/>
            <pc:sldLayoutMk cId="2478058371" sldId="2147483659"/>
          </pc:sldLayoutMkLst>
          <pc:picChg chg="del">
            <ac:chgData name="Marco Parenzan" userId="a83bbb23f3e251dc" providerId="LiveId" clId="{5D234868-AD62-4683-8D45-4D00F848BDE7}" dt="2026-07-28T10:53:53.697" v="116" actId="478"/>
            <ac:picMkLst>
              <pc:docMk/>
              <pc:sldMasterMk cId="1642139397" sldId="2147483656"/>
              <pc:sldLayoutMk cId="2478058371" sldId="2147483659"/>
              <ac:picMk id="5" creationId="{BF552489-C827-957D-A07D-61BA502E3129}"/>
            </ac:picMkLst>
          </pc:picChg>
          <pc:picChg chg="del">
            <ac:chgData name="Marco Parenzan" userId="a83bbb23f3e251dc" providerId="LiveId" clId="{5D234868-AD62-4683-8D45-4D00F848BDE7}" dt="2026-07-28T10:53:28.436" v="110" actId="478"/>
            <ac:picMkLst>
              <pc:docMk/>
              <pc:sldMasterMk cId="1642139397" sldId="2147483656"/>
              <pc:sldLayoutMk cId="2478058371" sldId="2147483659"/>
              <ac:picMk id="6" creationId="{159EAC0F-FE5A-7BE9-C41B-9F03AC1FCCC3}"/>
            </ac:picMkLst>
          </pc:picChg>
          <pc:picChg chg="add mod">
            <ac:chgData name="Marco Parenzan" userId="a83bbb23f3e251dc" providerId="LiveId" clId="{5D234868-AD62-4683-8D45-4D00F848BDE7}" dt="2026-07-22T22:31:12.964" v="66" actId="1076"/>
            <ac:picMkLst>
              <pc:docMk/>
              <pc:sldMasterMk cId="1642139397" sldId="2147483656"/>
              <pc:sldLayoutMk cId="2478058371" sldId="2147483659"/>
              <ac:picMk id="8" creationId="{2A718420-8710-4E04-1D4C-7E6253734CE4}"/>
            </ac:picMkLst>
          </pc:picChg>
          <pc:picChg chg="add">
            <ac:chgData name="Marco Parenzan" userId="a83bbb23f3e251dc" providerId="LiveId" clId="{5D234868-AD62-4683-8D45-4D00F848BDE7}" dt="2026-07-28T10:53:53.902" v="117" actId="22"/>
            <ac:picMkLst>
              <pc:docMk/>
              <pc:sldMasterMk cId="1642139397" sldId="2147483656"/>
              <pc:sldLayoutMk cId="2478058371" sldId="2147483659"/>
              <ac:picMk id="9" creationId="{4CB40BAD-FAC7-7B5C-A2E6-100E0C6E7D2E}"/>
            </ac:picMkLst>
          </pc:picChg>
          <pc:picChg chg="add">
            <ac:chgData name="Marco Parenzan" userId="a83bbb23f3e251dc" providerId="LiveId" clId="{5D234868-AD62-4683-8D45-4D00F848BDE7}" dt="2026-07-28T10:53:53.902" v="117" actId="22"/>
            <ac:picMkLst>
              <pc:docMk/>
              <pc:sldMasterMk cId="1642139397" sldId="2147483656"/>
              <pc:sldLayoutMk cId="2478058371" sldId="2147483659"/>
              <ac:picMk id="11" creationId="{2A5A3526-BFC2-FC5F-766D-E473F2631C20}"/>
            </ac:picMkLst>
          </pc:picChg>
          <pc:picChg chg="add">
            <ac:chgData name="Marco Parenzan" userId="a83bbb23f3e251dc" providerId="LiveId" clId="{5D234868-AD62-4683-8D45-4D00F848BDE7}" dt="2026-07-28T10:53:53.902" v="117" actId="22"/>
            <ac:picMkLst>
              <pc:docMk/>
              <pc:sldMasterMk cId="1642139397" sldId="2147483656"/>
              <pc:sldLayoutMk cId="2478058371" sldId="2147483659"/>
              <ac:picMk id="13" creationId="{1A31FBB9-95C1-26EA-714B-379B987CE9E9}"/>
            </ac:picMkLst>
          </pc:picChg>
          <pc:picChg chg="add">
            <ac:chgData name="Marco Parenzan" userId="a83bbb23f3e251dc" providerId="LiveId" clId="{5D234868-AD62-4683-8D45-4D00F848BDE7}" dt="2026-07-28T10:53:53.902" v="117" actId="22"/>
            <ac:picMkLst>
              <pc:docMk/>
              <pc:sldMasterMk cId="1642139397" sldId="2147483656"/>
              <pc:sldLayoutMk cId="2478058371" sldId="2147483659"/>
              <ac:picMk id="15" creationId="{3D642E17-6FB4-0487-816C-B2DF9487B809}"/>
            </ac:picMkLst>
          </pc:picChg>
        </pc:sldLayoutChg>
        <pc:sldLayoutChg chg="addSp delSp mod">
          <pc:chgData name="Marco Parenzan" userId="a83bbb23f3e251dc" providerId="LiveId" clId="{5D234868-AD62-4683-8D45-4D00F848BDE7}" dt="2026-07-28T10:53:57.577" v="119" actId="22"/>
          <pc:sldLayoutMkLst>
            <pc:docMk/>
            <pc:sldMasterMk cId="1642139397" sldId="2147483656"/>
            <pc:sldLayoutMk cId="3044537947" sldId="2147483660"/>
          </pc:sldLayoutMkLst>
          <pc:picChg chg="add">
            <ac:chgData name="Marco Parenzan" userId="a83bbb23f3e251dc" providerId="LiveId" clId="{5D234868-AD62-4683-8D45-4D00F848BDE7}" dt="2026-07-22T22:31:15.178" v="67" actId="22"/>
            <ac:picMkLst>
              <pc:docMk/>
              <pc:sldMasterMk cId="1642139397" sldId="2147483656"/>
              <pc:sldLayoutMk cId="3044537947" sldId="2147483660"/>
              <ac:picMk id="4" creationId="{5ECFF343-FC71-0874-141A-1219EBAC1019}"/>
            </ac:picMkLst>
          </pc:picChg>
          <pc:picChg chg="add">
            <ac:chgData name="Marco Parenzan" userId="a83bbb23f3e251dc" providerId="LiveId" clId="{5D234868-AD62-4683-8D45-4D00F848BDE7}" dt="2026-07-28T10:53:57.577" v="119" actId="22"/>
            <ac:picMkLst>
              <pc:docMk/>
              <pc:sldMasterMk cId="1642139397" sldId="2147483656"/>
              <pc:sldLayoutMk cId="3044537947" sldId="2147483660"/>
              <ac:picMk id="6" creationId="{97E59BEA-6962-B718-DA69-CB6353513035}"/>
            </ac:picMkLst>
          </pc:picChg>
          <pc:picChg chg="del">
            <ac:chgData name="Marco Parenzan" userId="a83bbb23f3e251dc" providerId="LiveId" clId="{5D234868-AD62-4683-8D45-4D00F848BDE7}" dt="2026-07-28T10:53:56.763" v="118" actId="478"/>
            <ac:picMkLst>
              <pc:docMk/>
              <pc:sldMasterMk cId="1642139397" sldId="2147483656"/>
              <pc:sldLayoutMk cId="3044537947" sldId="2147483660"/>
              <ac:picMk id="7" creationId="{283582EF-FDAA-7917-ABDB-40DD3ECECC79}"/>
            </ac:picMkLst>
          </pc:picChg>
          <pc:picChg chg="del">
            <ac:chgData name="Marco Parenzan" userId="a83bbb23f3e251dc" providerId="LiveId" clId="{5D234868-AD62-4683-8D45-4D00F848BDE7}" dt="2026-07-28T10:53:30.946" v="111" actId="478"/>
            <ac:picMkLst>
              <pc:docMk/>
              <pc:sldMasterMk cId="1642139397" sldId="2147483656"/>
              <pc:sldLayoutMk cId="3044537947" sldId="2147483660"/>
              <ac:picMk id="8" creationId="{122A1A4A-3112-D9FB-94B3-6A9B144D5CC8}"/>
            </ac:picMkLst>
          </pc:picChg>
          <pc:picChg chg="add">
            <ac:chgData name="Marco Parenzan" userId="a83bbb23f3e251dc" providerId="LiveId" clId="{5D234868-AD62-4683-8D45-4D00F848BDE7}" dt="2026-07-28T10:53:57.577" v="119" actId="22"/>
            <ac:picMkLst>
              <pc:docMk/>
              <pc:sldMasterMk cId="1642139397" sldId="2147483656"/>
              <pc:sldLayoutMk cId="3044537947" sldId="2147483660"/>
              <ac:picMk id="10" creationId="{95A4788F-D708-EE0C-EA21-AFBF25B7CB55}"/>
            </ac:picMkLst>
          </pc:picChg>
          <pc:picChg chg="add">
            <ac:chgData name="Marco Parenzan" userId="a83bbb23f3e251dc" providerId="LiveId" clId="{5D234868-AD62-4683-8D45-4D00F848BDE7}" dt="2026-07-28T10:53:57.577" v="119" actId="22"/>
            <ac:picMkLst>
              <pc:docMk/>
              <pc:sldMasterMk cId="1642139397" sldId="2147483656"/>
              <pc:sldLayoutMk cId="3044537947" sldId="2147483660"/>
              <ac:picMk id="12" creationId="{7784792C-02ED-FEAB-248C-DCAC237B6374}"/>
            </ac:picMkLst>
          </pc:picChg>
          <pc:picChg chg="add">
            <ac:chgData name="Marco Parenzan" userId="a83bbb23f3e251dc" providerId="LiveId" clId="{5D234868-AD62-4683-8D45-4D00F848BDE7}" dt="2026-07-28T10:53:57.577" v="119" actId="22"/>
            <ac:picMkLst>
              <pc:docMk/>
              <pc:sldMasterMk cId="1642139397" sldId="2147483656"/>
              <pc:sldLayoutMk cId="3044537947" sldId="2147483660"/>
              <ac:picMk id="14" creationId="{383BD2B7-3AD3-A11B-1B7A-59AC8ADB43E9}"/>
            </ac:picMkLst>
          </pc:picChg>
        </pc:sldLayoutChg>
        <pc:sldLayoutChg chg="addSp delSp modSp mod">
          <pc:chgData name="Marco Parenzan" userId="a83bbb23f3e251dc" providerId="LiveId" clId="{5D234868-AD62-4683-8D45-4D00F848BDE7}" dt="2026-07-28T10:52:56.257" v="101" actId="1076"/>
          <pc:sldLayoutMkLst>
            <pc:docMk/>
            <pc:sldMasterMk cId="1642139397" sldId="2147483656"/>
            <pc:sldLayoutMk cId="2643064719" sldId="2147483662"/>
          </pc:sldLayoutMkLst>
          <pc:picChg chg="add mod">
            <ac:chgData name="Marco Parenzan" userId="a83bbb23f3e251dc" providerId="LiveId" clId="{5D234868-AD62-4683-8D45-4D00F848BDE7}" dt="2026-07-28T10:52:56.257" v="101" actId="1076"/>
            <ac:picMkLst>
              <pc:docMk/>
              <pc:sldMasterMk cId="1642139397" sldId="2147483656"/>
              <pc:sldLayoutMk cId="2643064719" sldId="2147483662"/>
              <ac:picMk id="3" creationId="{64E909C6-DF0D-DE15-8B93-92695214ECED}"/>
            </ac:picMkLst>
          </pc:picChg>
          <pc:picChg chg="add mod modCrop">
            <ac:chgData name="Marco Parenzan" userId="a83bbb23f3e251dc" providerId="LiveId" clId="{5D234868-AD62-4683-8D45-4D00F848BDE7}" dt="2026-07-28T10:52:53.103" v="100" actId="1076"/>
            <ac:picMkLst>
              <pc:docMk/>
              <pc:sldMasterMk cId="1642139397" sldId="2147483656"/>
              <pc:sldLayoutMk cId="2643064719" sldId="2147483662"/>
              <ac:picMk id="4" creationId="{E23C5F0A-A16B-1A40-47EF-E16B206B618F}"/>
            </ac:picMkLst>
          </pc:picChg>
          <pc:picChg chg="add mod">
            <ac:chgData name="Marco Parenzan" userId="a83bbb23f3e251dc" providerId="LiveId" clId="{5D234868-AD62-4683-8D45-4D00F848BDE7}" dt="2026-07-28T10:52:07.712" v="80" actId="1076"/>
            <ac:picMkLst>
              <pc:docMk/>
              <pc:sldMasterMk cId="1642139397" sldId="2147483656"/>
              <pc:sldLayoutMk cId="2643064719" sldId="2147483662"/>
              <ac:picMk id="6" creationId="{963216CC-5A04-9AF1-8CD2-A6030DAA2D9E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4906A8-A64A-4494-0654-6895A20F3B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210FB0-5A8D-505A-6A75-706FE6E300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00839-1292-4A7E-9E68-CEF90B81A78E}" type="datetimeFigureOut">
              <a:rPr lang="it-IT" smtClean="0"/>
              <a:t>26/09/2026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7259-E604-1FBB-58E3-3390C87E74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83E895-B45D-3CDB-3D80-DC2507128C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D8E80-87F9-43CA-8BD3-ADB72F74BE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6923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F1625-9098-4785-B4EC-70335624A8E1}" type="datetimeFigureOut">
              <a:rPr lang="it-IT" smtClean="0"/>
              <a:t>26/09/2026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E6E33-B938-49C6-B3D7-4947E68F56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6817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2']
Coinvolgere il pubblico: quale errore è più grave, tono poco elegante, prezzo inventato o reso autorizzato per il motivo sbagliato? La risposta introduce la necessità di misurare qualità e non solo velocità/costo.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2']
Mappa iniziale completa delle voci della pagina Workflow capabilities, consultata il 25/09/2026: https://learn.microsoft.com/en-us/agent-framework/workflows/
Le quattro categorie sono Composition (Agents in workflows, Workflows as agents, Declarative workflows), Interaction and durability (Human-in-the-loop, Checkpoints and resuming), Operations (Observability, Visualization) e Multi-agent orchestration (Sequential, Concurrent, Handoff, Group Chat, Magentic).
La slide distingue le capacità trasversali dai cinque pattern di orchestrazione: https://learn.microsoft.com/en-us/agent-framework/workflows/orchestrations/
Sequential: percorso ordinato con passaggio dei risultati. Concurrent: fan-out su attività indipendenti e aggregazione, non necessariamente dialogo reciproco. Handoff: trasferimento del controllo al destinatario. Group Chat: un manager sceglie i turni in una conversazione condivisa. Magentic: pianificazione e controllo adattivo dei progressi; non promettere efficacia universale.
Agent-as-tool è aggiunto intenzionalmente come pattern di delega, NON come sesto builder nell'elenco Learn. Il principale invoca un altro agente, riceve il risultato e prosegue; non trasferisce l'intera ownership del task. Fonte del confronto: https://learn.microsoft.com/en-us/agent-framework/workflows/orchestrations/handoff#differences-between-handoff-and-agent-as-tools
Executors, edges, events e state sono primitive del grafo; routing condizionale, fan-out/fan-in, iterazioni e composizione permettono workflow personalizzati. Non confonderli con ulteriori voci built-in: https://learn.microsoft.com/en-us/agent-framework/concepts/workflows/
Questi pattern sono componibili. Nella demo A2A è il protocollo usato per una delega agent-as-tool, non un sesto tipo di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2']
Mostrare i tre percorsi: Inline e Skills hanno un solo agente modello, il Router; A2A delega agli specialisti remoti. I servizi business sono distinti dagli agenti. Il confronto tra architetture non isola automaticamente il solo overhead di rete. Le prossime tre slide mostrano come è fatto davvero il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2']
Leggere la slide per righe. Inline: il router ha tutte le istruzioni dei tre domini nel prompt e tutti i tool, grazie alla libreria Observatory.Inline: nessun processo aggiuntivo.
Skills: il router scarica dagli skill site solo l'indice (GET /skills); il modello chiama load_skill e allora il router scarica SKILL.md (e read_skill_resource per le reference). Gli skill site non hanno modello: pubblicano istruzioni. I tool restano nel router, che chiama direttamente le API shop. Se uno skill site non risponde, la run si ferma con skill_unavailable (fail closed).
A2A: il router vede tre tool catalog_agent/orders_agent/returns_agent; ogni chiamata è una richiesta A2A a un agente con modello, istruzioni e tool propri, che a sua volta chiama la sua API shop.
Tutti i progetti usano ServiceDefaults: l'osservabilità è quella di Aspire (OpenTelemetry), arricchita dal ledger applicativo con token, cache e costo.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1']
Il contratto del tool è un prompt: nome, descrizione e schema dei parametri vanno al modello a ogni chiamata e si pagano come input (sono nel prefisso, quindi cacheabili se stabili).
Nelle sei run: 0/11 valutazioni reso riuscite; 11 errori di validazione del motivo. Risposta presente non significa verifica tool riuscita.
Il problema non è di rete: lo schema di assess_return non dichiara i valori ammessi di reason; il modello scrive il motivo in italiano. Fix suggerito (non applicato per non alterare le misure): enum o elenco dei valori nella descrizione.
DESCRIZIONI INTEGRALI REGISTRATE:
search_products(query?, maxPrice?, take?): Cerca prodotti pubblici senza immagini. query accetta termini italiani o inglesi; maxPrice e in USD. Restituisce solo una lista limitata: per contare o combinare categoria e colore usa query_catalog.
query_catalog(query?, category?, color?, maxPrice?, inStockOnly?, take?): Filtra e conta l'intero catalogo. totalProducts conta i modelli distinti; stockUnits somma i pezzi; inStockProducts conta i modelli disponibili. take (1-30) limita solo gli esempi, mai i totali. Categoria e colore accettano italiano o inglese. I colori provengono dal testo, non dalle immagini; mantieni i filtri pertinenti nei follow-up.
get_catalog_facets(): Elenca categorie e colori testuali realmente presenti nel catalogo, con numero di modelli e pezzi. Utile per orientare il cliente. I conteggi dei colori si sovrappongono per prodotti multicolore.
get_product(productId): Leggi i dati pubblici verificati di un prodotto tramite il suo ID. Non include immagini o miniature.
get_order(orderId): Leggi un ordine del cliente autenticato della run; distingue l'importo effettivamente pagato dal prezzo di listino.
create_return_draft(orderId, reason): Crea una bozza sintetica di reso, non un rimborso. L'autorizzazione proviene solo dalla configurazione server della run, mai da argomenti del modello. L'idoneita viene ricontrollata.
assess_return(orderId, reason): Valuta il motivo corrente del reso secondo ordine e policy effettivi; reason deve riflettere l'ultima correzione del cliente.
get_policies(): Leggi le policy sintetiche del negozio in ordine di priorita.
load_skill(skillName): Loads the full content of a specific skill
read_skill_resource(skillName, resourceName): Reads a resource associated with a skill, such as references, assets, or dynamic data.
run_skill_script(skillName, scriptName, arguments?): Runs a script associated with a skill.
catalog_agent(query): Delega al servizio Catalog tramite A2A: ricerca, dettagli, conteggi completi di modelli e pezzi, categorie e colori testuali. Includi i filtri correnti e il contesto utile del follow-up.
orders_agent(query): Delega allo specialista orders tramite A2A ufficiale su HTTP. Restituisce solo fatti di dominio verificati.
returns_agent(query): Delega allo specialista returns tramite A2A ufficiale su HTTP. Restituisce solo fatti di dominio verificati.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1']
Il modello sceglie lo specialista leggendo testo: la descrizione del tool agente (A2A) o la description della skill (Skills). Descrizioni vaghe o sovrapposte producono deleghe sbagliate o doppie.
La procedura completa (identica nei tre percorsi, verificata da un test) entra nel contesto in momenti diversi: sempre (Inline), su richiesta tramite load_skill (Skills), solo nel prompt dello specialista (A2A).
TESTI INTEGRALI:
== catalog
A2A: Delega al servizio Catalog tramite A2A: ricerca, dettagli, conteggi completi di modelli e pezzi, categorie e colori testuali. Includi i filtri correnti e il contesto utile del follow-up.
SKILL: Istruzioni dello specialista Catalog, per ricerca prodotti, filtri combinati, conteggi di modelli e pezzi, categorie e colori testuali del catalogo.
PROCEDURA:
Per ricerche con filtri o conteggi usa query_catalog(query, category, color, maxPrice, inStockOnly, take).
query contiene parole chiave del prodotto o della marca, non tutta la domanda. Mantieni i filtri pertinenti
dei turni precedenti: per esempio, "solo rosse" cambia color ma non cancella categoria, budget o disponibilità.
Per "quanti prodotti disponibili" usa inStockOnly=true; se si chiedono i pezzi, riferisci stockUnits.
totalProducts, inStockProducts e stockUnits sono calcolati prima di take; products contiene solo gli esempi
restituiti. hasMore segnala altri risultati: non presentare la pagina come catalogo completo.
Usa get_catalog_facets per scoprire categorie e colori realmente presenti, non per indovinare conteggi
di filtri combinati. I valori productCount e stockUnits delle categorie o dei colori sono distinti;
i gruppi di colore possono sovrapporsi e non vanno sommati. Spiega colorBasis quando il colore è rilevante.
category accetta ID reali e gruppi clothing, dresses, shirts, shoes, bags, sunglasses, jewellery, anche con alias italiani.
Se "vestiti" indica genericamente cosa acquistare, considera clothing e chiarisci brevemente che intendi abbigliamento.
Se serve un tipo preciso di abito e il contesto non lo identifica, chiedi quale: non scegliere un sottotipo a caso.
search_products resta disponibile per semplici elenchi, ma non prova il totale. Usa get_product per un ID pubblico esplicito.
Riferisci ID, titolo, prezzo, valuta e scorte soltanto come restituiti. Il colore testuale non certifica varianti viste in foto.
Non allargare silenziosamente i filtri se non trovi risultati. GET /catalog è solo per metadata/UI, non è un tool del modello.
== orders
A2A: Delega allo specialista orders tramite A2A ufficiale su HTTP. Restituisce solo fatti di dominio verificati.
SKILL: Istruzioni dello specialista Orders, per leggere un ordine del cliente, distinguere pagato e listino, creare bozze di reso solo su richiesta esplicita con conferma server.
PROCEDURA:
Usa get_order con l'ID ordine esplicito e il cliente vincolato dal server.
Distingui il prezzo di listino dall'importo pagato, conservando valuta e data di consegna.
Usa create_return_draft solo per una richiesta esplicita di bozza con autorizzazione server confermata.
Il tool ricontrolla l'ammissibilità: dichiara creata la bozza soltanto dopo un risultato riuscito.
== returns
A2A: Delega allo specialista returns tramite A2A ufficiale su HTTP. Restituisce solo fatti di dominio verificati.
SKILL: Istruzioni dello specialista Returns, per valutare l'ammissibilita di un reso con l'ultimo motivo del cliente e spiegare le policy del negozio.
PROCEDURA:
Usa assess_return con l'ID ordine esplicito e il motivo corrente, comprese le ultime correzioni.
Usa get_policies se serve chiarire il testo. Non ricavare una policy dalla memoria.
Spiega priorità e ID della policy, tempo dalla consegna, ammissibilità, chiarimenti e importo del rimborso
esattamente come restituiti. Una valutazione non crea una bozza e non esegue alcun rimborso.
Prima di valutare l'ammissibilità leggi la risorsa references/decision-checklist.md.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1']
Diagrammi ricostruiti come forme native dalla conversazione condivisa: https://chatgpt.com/s/t_6ab6cd6b438481919846351e496ee155
A sinistra il Main Agent chiama uno specialista, che esegue un proprio ciclo LLM-tool-LLM; il principale riceve testo e continua. A destra il Main Agent carica istruzioni e usa direttamente tool MCP: il reasoning resta nel principale.
È un confronto di architetture concettuali, non una garanzia di prestazioni. A2A è il protocollo; agent-as-tool è il pattern di delega. Fonte tecnica: https://devblogs.microsoft.com/agent-framework/from-specialist-agents-to-distributed-skills-over-mcp/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1']
La conversazione sintetizza la differenza così: Agent-as-tool = delego il reasoning; Distributed Skill = delego la capability. Diagramma originale: https://chatgpt.com/s/t_6ab6cd6b438481919846351e496ee155
Agent: autonomia, modello e strumenti propri, contesto e stato isolati. Skill: istruzioni, typed tools e servizio remoto; il Main Agent resta il reasoner.
La soluzione può essere ibrida: skill per specialisti procedurali e agent-as-tool per ricerca o task autonomi.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1']
La conversazione mostra la trasformazione Main Agent + Weather/Safety/Ski/Lift Agent in Main Agent + quattro Skill collegate ai rispettivi MCP tools: https://chatgpt.com/s/t_6ab6cd6b438481919846351e496ee155
Il dominio non viene centralizzato: API, dati, deploy e ownership possono restare separati. Si centralizza il reasoning quando lo specialista fornisce soprattutto procedura e operazioni.
Non convertire automaticamente gli agenti con autonomia reale, contesto privato, modello specializzato o workflow sostanziale.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1']
Ragionamento di partenza fornito dall'utente, letto nella pagina pubblica: https://chatgpt.com/s/t_6ab6cd6b438481919846351e496ee155
Sintesi/parafrasi, non riproduzione integrale: tool = operazione delimitata; skill = competenza/procedura acquisita dal principale; agent-as-tool = delega a un reasoner autonomo. Il numero di processi non determina il numero di cicli LLM.
Fonte tecnica: Tommaso Stocchi, From Specialist Agents to Distributed Skills over MCP, Microsoft Developer Blogs, 16/09/2026: https://devblogs.microsoft.com/agent-framework/from-specialist-agents-to-distributed-skills-over-mcp/
La tesi è mantenere distribuiti i servizi di dominio e spostare le istruzioni dello specialista nell'orchestratore quando non serve un altro reasoner. Non significa sostituire qualsiasi agente con una skill: nell'articolo un agente di ricerca resta agent-as-tool in entrambe le architetture.
Autonomia, contesto privato, modello specifico e workflow complesso sono buoni motivi per mantenere uno specialista agente. Un deployment indipendente non richiede da solo un LLM aggiuntivo: anche un provider di skill o un servizio business può avere infrastruttura e ownership proprie.
DISTINZIONE DALLA NOSTRA DEMO: qui le skill sono pubblicate via API HTTP ad hoc e i tool sono nel router. L'articolo distribuisce istruzioni e operazioni tramite MCP. Non affermare che la nostra demo implementi MCP.
Il trasporto skill mostrato nell'articolo usa una revisione storica di SEP-2640 con skill://index.json; non è una proprietà obbligatoria del core MCP. Il codice citato usa agent-framework-core 1.17.0 e una specifica API sperimentale: verificare versioni/compatibilità prima di migrare.
ATTRIBUZIONE FOTO: profilo pubblico di Tommaso Stocchi, https://devblogs.microsoft.com/agent-framework/author/tstocchi/
Immagine originale 150×150: https://devblogs.microsoft.com/agent-framework/wp-content/uploads/sites/78/2024/09/codemotion25-small-150x150.webp
La foto inclusa è una conversione PNG dell'immagine pubblicata, non generata. La pubblicazione sul web non implica una licenza libera di riutilizzo.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1']
PATTERN DI DIALOGO: agent-as-tool = delega con ritorno; handoff = trasferimento della responsabilità del task; group chat = turni in una conversazione condivisa; Magentic aggiunge pianificazione e verifica adattiva. Sequential e Concurrent, nella mappa iniziale, coordinano passaggio ordinato o lavoro indipendente in parallelo.
Agent-as-tool è un'ottima scelta per un sottotask con input/output chiari e responsabilità specialistica: il principale conserva il controllo complessivo e decide la risposta finale. Un modello adeguato, contesto limitato, tool pertinenti e deleghe indipendenti in parallelo possono aiutare la latenza; NON garantiscono che sia più veloce di un singolo agente. Ogni specialista può aggiungere inferenze e round-trip. Il contratto deve stabilire risultato atteso, errori, consenso e confini delle operazioni. Autorizzazione e validazione devono essere nel codice.
Confronto ufficiale: https://learn.microsoft.com/en-us/agent-framework/workflows/orchestrations/handoff#differences-between-handoff-and-agent-as-tools
DATI ESTERNI, NON MISURE AI OBSERVATORY: https://devblogs.microsoft.com/agent-framework/from-specialist-agents-to-distributed-skills-over-mcp/
L'articolo riporta tre coppie: A2A 6/6/7 chiamate modello contro MCP skills 3/3/3; media end-to-end 15,480 s contro 6,348 s; token osservati complessivi 11.134 contro 13.533 (circa +22%). Non sono tariffe o costo in USD. Le metriche sono tempo fino a completamento SSE, non TTFT.
Tre coppie illustrative, non studio controllato: processi già avviati, cache variabile, inizializzazione credenziali, runtime diversi, lavoro non identico e contatori cache A2A incompleti. Le chiamate degli specialisti si sovrappongono: non disegnare tutte le inferenze come sequenziali.
Qualità: alcune risposte offrivano rassicurazioni senza consultare il provider safety. La latenza inferiore non dimostra stessa correttezza o completezza.
A2A e MCP sono protocolli, non orchestrazioni. Nell'articolo A2A implementa agent-as-tool; MCP distribuisce skill e operazioni. Rimane anche un agente di ricerca in entrambe le soluzioni: l'ibrido è legittimo. La nostra demo Skills usa HTTP, non MCP, e le misure della nostra demo restano separate.
Collegamento al ragionamento condiviso: https://chatgpt.com/s/t_6ab6cd6b438481919846351e496ee155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3']
Messaggio: non esiste il prompt universalmente ottimale. Per 5.4 evidenziare la gestione esplicita della verbosità; per 5.6 partire da risultato/prove/vincoli; per GPT-6 governare autonomia, chiarimenti, skill e priorità. Non confondere istruzioni di verbosità con reasoning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4']
Astra: più capace per lavori difficili; Sol: complessi workflow agentici/coding; Luna: efficienza per task focalizzati e volume. Terra: la richiesta lo cita, ma la model card ufficiale non è disponibile: non inventare differenze. Nella demo LIVE sono verificati GPT-5 e Sol; Astra/Luna non sono ancora live-ready. Le tariffe mostrate sono orientative del listino OpenAI, non la fattura Azure.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3']
Usare questa slide come checklist di prompt review. Un prompt lungo non è necessariamente cattivo; un prompt breve non è necessariamente economico se genera chiamate inutili, chiarimenti o output errati.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4']
Spiegare i bucket senza doppio conteggio. Input totale può includere cached e cache write; reasoning è incluso nell'output. Un valore assente non vale zero. La semantica del provider e della rate card deve essere congelata nella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3']
Buone pratiche: prefisso stabile e identico, dati dinamici in coda, versionare prompt/tool, osservare hit rate. Non gonfiare il prompt solo per inseguire la cache. Una cache miss è spesso spiegabile da piccole variazioni o soglie.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3']
Scomporre la latenza. Prompt e output più lunghi tendono ad aumentare lavoro e costo, ma il trade-off reale va misurato. Nell'app la risposta è bufferizzata: il tempo alla prima risposta non equivale al time-to-first-token streaming del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3']
Spiegare che A/C non è un confronto a una variabile. Usare chat nuove per ogni variante. Alternare ordine per ridurre bias temporali. Una singola risposta non crea una classifica.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3']
Leggere i dati, non proclamare un vincitore. A2A si ferma prima di completare il task: i suoi token non rappresentano lo stesso esito di Inline e Skills. Il controllo budget avviene tra chiamate: l'ultima può superare 0,10 USD.
La cache non è stata controllata; non attribuire causalmente alla cache le differenze fra i giri.
Pilot a 1.500 token escluso dalla tabella: 0,04920925 USD. Totale sessione, incluso pilot: 0,51146275 USD.
{"architecture":"inline","repetition":1,"status":"completed","error":null,"runId":"841fc49ca147492994d68ef8762e56d2","conversationId":"89404523568c49fb8590440f6e5e4eae","calls":6,"agents":["router"],"input":16424,"cached":14336,"cacheWrite":null,"output":5133,"reasoning":4736,"durationMs":69807.1156,"costUsd":0.055732,"promptCharacters":{"router":[5252]},"toolFailures":2,"exportFile":"inline-1-export.json"}
{"architecture":"inline","repetition":2,"status":"completed","error":null,"runId":"9ebc1cb69e46418faa7a2244a32eec72","conversationId":"b113bb8e41474516ae28c90fd21a489e","calls":6,"agents":["router"],"input":16417,"cached":15232,"cacheWrite":null,"output":4352,"reasoning":3904,"durationMs":69131.8729,"costUsd":0.04690525,"promptCharacters":{"router":[5252]},"toolFailures":2,"exportFile":"inline-2-export.json"}
{"architecture":"skills","repetition":1,"status":"completed","error":null,"runId":"a3b64478909a4a578ea86ed4e5cf5e93","conversationId":"c796b467770546779313bd6c46c7075f","calls":9,"agents":["router"],"input":37449,"cached":29824,"cacheWrite":null,"output":5545,"reasoning":5056,"durationMs":79770.0648,"costUsd":0.06870925,"promptCharacters":{"router":[4891]},"toolFailures":1,"exportFile":"skills-1-export.json"}
{"architecture":"skills","repetition":2,"status":"completed","error":null,"runId":"7d29981232254bdcaba1d78f801b61e0","conversationId":"7cd169aa0e254b27abb2d6f4775d83de","calls":9,"agents":["router"],"input":34989,"cached":32000,"cacheWrite":null,"output":3821,"reasoning":3392,"durationMs":71320.8179,"costUsd":0.04594625,"promptCharacters":{"router":[4891]},"toolFailures":1,"exportFile":"skills-2-export.json"}
{"architecture":"a2a","repetition":1,"status":"failed","error":"Approved run budget reached. Further paid calls are blocked.","runId":"c37c81565c7a4b9b8ddbaf056a71f3f6","conversationId":"74037bb9d7cd4860b43fe2599c66fb64","calls":8,"agents":["router","orders","returns"],"input":11342,"cached":5888,"cacheWrite":null,"output":10919,"reasoning":9536,"durationMs":164925.2372,"costUsd":0.1167435,"promptCharacters":{"router":[3663],"orders":[3166],"returns":[3179]},"toolFailures":2,"exportFile":"a2a-1-export.json"}
{"architecture":"a2a","repetition":2,"status":"failed","error":"Approved run budget reached. Further paid calls are blocked.","runId":"6c680876a9054fab87fa7ce05b3b4a5c","conversationId":"2158e358677542f192e94d6da63370a0","calls":8,"agents":["router","orders","returns"],"input":11681,"cached":9088,"cacheWrite":null,"output":12384,"reasoning":11392,"durationMs":169209.0117,"costUsd":0.12821725,"promptCharacters":{"router":[3663],"orders":[3166],"returns":[3179]},"toolFailures":2,"exportFile":"a2a-2-export.jso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[TEMPO: 1']
Usare questa slide come sintesi rapida delle leve già spiegate. Routing per task significa usare eval e fallback, non mandare automaticamente tutto al modello più economico. Gli errori devono restare visibili.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332998-FE20-AD9F-C8B7-B122948EA7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698" y="-426973"/>
            <a:ext cx="5188604" cy="345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D9DD61-3B4B-791E-A288-1D4E098CF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974" y="2569514"/>
            <a:ext cx="11841348" cy="1522768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F4FCB-C4EB-FA0D-F4B2-D33F1CFB1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974" y="4211426"/>
            <a:ext cx="11841348" cy="7336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5113A5-DD14-41C6-D0CF-7E0455CED3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8974" y="5768964"/>
            <a:ext cx="2195378" cy="831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E21080-2E0C-87CC-621B-229CF116B6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505" y="5898410"/>
            <a:ext cx="3662682" cy="959590"/>
          </a:xfrm>
          <a:prstGeom prst="rect">
            <a:avLst/>
          </a:prstGeom>
        </p:spPr>
      </p:pic>
      <p:pic>
        <p:nvPicPr>
          <p:cNvPr id="9" name="Picture 2" descr="Deutsch">
            <a:extLst>
              <a:ext uri="{FF2B5EF4-FFF2-40B4-BE49-F238E27FC236}">
                <a16:creationId xmlns:a16="http://schemas.microsoft.com/office/drawing/2014/main" id="{2CAAEFDA-1DD6-4A29-1688-306BAE7BEB7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2" r="11546"/>
          <a:stretch/>
        </p:blipFill>
        <p:spPr bwMode="auto">
          <a:xfrm>
            <a:off x="4067760" y="5714920"/>
            <a:ext cx="2185816" cy="115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64FF1B-4407-88CF-4098-02DBF533795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27280" t="23642" r="27655" b="39536"/>
          <a:stretch>
            <a:fillRect/>
          </a:stretch>
        </p:blipFill>
        <p:spPr>
          <a:xfrm>
            <a:off x="6951216" y="1827120"/>
            <a:ext cx="1313895" cy="5128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B07E5B-AB6C-E168-2EAE-06637910F52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b="44560"/>
          <a:stretch>
            <a:fillRect/>
          </a:stretch>
        </p:blipFill>
        <p:spPr>
          <a:xfrm>
            <a:off x="6606238" y="6184715"/>
            <a:ext cx="1785606" cy="38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826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D8A27-81CB-1DE6-67EB-65531BEA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24" y="2336365"/>
            <a:ext cx="11707264" cy="1583086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77E01-9328-162F-0D77-62F4E6BFA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924" y="4072380"/>
            <a:ext cx="11707264" cy="7651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947206-C777-2051-39AD-501E59C93C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296" y="-256954"/>
            <a:ext cx="3341408" cy="22276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718420-8710-4E04-1D4C-7E6253734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7280" t="23642" r="27655" b="39536"/>
          <a:stretch>
            <a:fillRect/>
          </a:stretch>
        </p:blipFill>
        <p:spPr>
          <a:xfrm>
            <a:off x="6665874" y="1162557"/>
            <a:ext cx="800738" cy="3125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B40BAD-FAC7-7B5C-A2E6-100E0C6E7D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8974" y="5768964"/>
            <a:ext cx="2195378" cy="8315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5A3526-BFC2-FC5F-766D-E473F2631C2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505" y="5898410"/>
            <a:ext cx="3662682" cy="959590"/>
          </a:xfrm>
          <a:prstGeom prst="rect">
            <a:avLst/>
          </a:prstGeom>
        </p:spPr>
      </p:pic>
      <p:pic>
        <p:nvPicPr>
          <p:cNvPr id="13" name="Picture 2" descr="Deutsch">
            <a:extLst>
              <a:ext uri="{FF2B5EF4-FFF2-40B4-BE49-F238E27FC236}">
                <a16:creationId xmlns:a16="http://schemas.microsoft.com/office/drawing/2014/main" id="{1A31FBB9-95C1-26EA-714B-379B987CE9E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2" r="11546"/>
          <a:stretch/>
        </p:blipFill>
        <p:spPr bwMode="auto">
          <a:xfrm>
            <a:off x="4067760" y="5714920"/>
            <a:ext cx="2185816" cy="115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642E17-6FB4-0487-816C-B2DF9487B80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b="44560"/>
          <a:stretch>
            <a:fillRect/>
          </a:stretch>
        </p:blipFill>
        <p:spPr>
          <a:xfrm>
            <a:off x="6606238" y="6184715"/>
            <a:ext cx="1785606" cy="38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58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8A769-0733-E91B-A402-21DD319B4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406" y="2891508"/>
            <a:ext cx="10515600" cy="1325563"/>
          </a:xfrm>
          <a:prstGeom prst="rect">
            <a:avLst/>
          </a:prstGeom>
        </p:spPr>
        <p:txBody>
          <a:bodyPr anchor="ctr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DEMO</a:t>
            </a:r>
            <a:endParaRPr lang="it-I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929FF4-8E52-4BE4-4128-D3CFE846C1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296" y="-256954"/>
            <a:ext cx="3341408" cy="22276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CFF343-FC71-0874-141A-1219EBAC10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7280" t="23642" r="27655" b="39536"/>
          <a:stretch>
            <a:fillRect/>
          </a:stretch>
        </p:blipFill>
        <p:spPr>
          <a:xfrm>
            <a:off x="6665874" y="1162557"/>
            <a:ext cx="800738" cy="3125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E59BEA-6962-B718-DA69-CB635351303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8974" y="5768964"/>
            <a:ext cx="2195378" cy="8315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A4788F-D708-EE0C-EA21-AFBF25B7CB5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505" y="5898410"/>
            <a:ext cx="3662682" cy="959590"/>
          </a:xfrm>
          <a:prstGeom prst="rect">
            <a:avLst/>
          </a:prstGeom>
        </p:spPr>
      </p:pic>
      <p:pic>
        <p:nvPicPr>
          <p:cNvPr id="12" name="Picture 2" descr="Deutsch">
            <a:extLst>
              <a:ext uri="{FF2B5EF4-FFF2-40B4-BE49-F238E27FC236}">
                <a16:creationId xmlns:a16="http://schemas.microsoft.com/office/drawing/2014/main" id="{7784792C-02ED-FEAB-248C-DCAC237B637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2" r="11546"/>
          <a:stretch/>
        </p:blipFill>
        <p:spPr bwMode="auto">
          <a:xfrm>
            <a:off x="4067760" y="5714920"/>
            <a:ext cx="2185816" cy="115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3BD2B7-3AD3-A11B-1B7A-59AC8ADB43E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b="44560"/>
          <a:stretch>
            <a:fillRect/>
          </a:stretch>
        </p:blipFill>
        <p:spPr>
          <a:xfrm>
            <a:off x="6606238" y="6184715"/>
            <a:ext cx="1785606" cy="38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3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sor"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093F780-3792-B716-DF8B-9B207C021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SPONSOR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E909C6-DF0D-DE15-8B93-92695214EC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680" y="3559717"/>
            <a:ext cx="2942997" cy="771039"/>
          </a:xfrm>
          <a:prstGeom prst="rect">
            <a:avLst/>
          </a:prstGeom>
        </p:spPr>
      </p:pic>
      <p:pic>
        <p:nvPicPr>
          <p:cNvPr id="6" name="Picture 2" descr="Deutsch">
            <a:extLst>
              <a:ext uri="{FF2B5EF4-FFF2-40B4-BE49-F238E27FC236}">
                <a16:creationId xmlns:a16="http://schemas.microsoft.com/office/drawing/2014/main" id="{963216CC-5A04-9AF1-8CD2-A6030DAA2D9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2" r="11546"/>
          <a:stretch/>
        </p:blipFill>
        <p:spPr bwMode="auto">
          <a:xfrm>
            <a:off x="1198323" y="3222650"/>
            <a:ext cx="2478065" cy="13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3C5F0A-A16B-1A40-47EF-E16B206B618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44560"/>
          <a:stretch>
            <a:fillRect/>
          </a:stretch>
        </p:blipFill>
        <p:spPr>
          <a:xfrm>
            <a:off x="5121223" y="3751748"/>
            <a:ext cx="1785606" cy="38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6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16D2B-C7E7-AC57-698C-F37209A3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980B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552F5-BBAC-AE05-EB57-8B3ACC70F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2980B9"/>
                </a:solidFill>
              </a:defRPr>
            </a:lvl1pPr>
            <a:lvl2pPr>
              <a:defRPr>
                <a:solidFill>
                  <a:srgbClr val="2980B9"/>
                </a:solidFill>
              </a:defRPr>
            </a:lvl2pPr>
            <a:lvl3pPr>
              <a:defRPr>
                <a:solidFill>
                  <a:srgbClr val="2980B9"/>
                </a:solidFill>
              </a:defRPr>
            </a:lvl3pPr>
            <a:lvl4pPr>
              <a:defRPr>
                <a:solidFill>
                  <a:srgbClr val="2980B9"/>
                </a:solidFill>
              </a:defRPr>
            </a:lvl4pPr>
            <a:lvl5pPr>
              <a:defRPr>
                <a:solidFill>
                  <a:srgbClr val="2980B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443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F00F4-EA68-972B-B79B-FD6FB991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0933C-C524-4679-7C47-1C066786A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75B79-65B8-C494-2BA2-CB76A0EA7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6344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C960-42E2-5562-D0FE-39849734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109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360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AB9AEA-CF7C-AEA3-4992-A53A4A3481E7}"/>
              </a:ext>
            </a:extLst>
          </p:cNvPr>
          <p:cNvSpPr txBox="1"/>
          <p:nvPr userDrawn="1"/>
        </p:nvSpPr>
        <p:spPr>
          <a:xfrm>
            <a:off x="0" y="0"/>
            <a:ext cx="5421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2980B9"/>
                </a:solidFill>
              </a:rPr>
              <a:t>Pordenone, 26 settembre 2026, ore 9</a:t>
            </a:r>
          </a:p>
          <a:p>
            <a:r>
              <a:rPr lang="it-IT" b="1" dirty="0">
                <a:solidFill>
                  <a:srgbClr val="2980B9"/>
                </a:solidFill>
              </a:rPr>
              <a:t>Consorzio Universitario di Pordenone, Via Prasecco 3/a</a:t>
            </a:r>
          </a:p>
        </p:txBody>
      </p:sp>
    </p:spTree>
    <p:extLst>
      <p:ext uri="{BB962C8B-B14F-4D97-AF65-F5344CB8AC3E}">
        <p14:creationId xmlns:p14="http://schemas.microsoft.com/office/powerpoint/2010/main" val="4037332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735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9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139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9" r:id="rId2"/>
    <p:sldLayoutId id="2147483660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3867EF7-E09D-14F8-A33B-4C7B42853253}"/>
              </a:ext>
            </a:extLst>
          </p:cNvPr>
          <p:cNvSpPr/>
          <p:nvPr userDrawn="1"/>
        </p:nvSpPr>
        <p:spPr>
          <a:xfrm>
            <a:off x="0" y="6281638"/>
            <a:ext cx="12192000" cy="588729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C5E4B-6244-1273-742A-D6BF4C55A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12585-CDD8-AE1F-8096-77C3F4A9C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0E5BC7D-BED0-42D3-C5D4-2DE419FF212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0799" y="6331827"/>
            <a:ext cx="1289369" cy="488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F1ECF-9408-8D15-6611-73B6DFF603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841" y="6217639"/>
            <a:ext cx="2942997" cy="771039"/>
          </a:xfrm>
          <a:prstGeom prst="rect">
            <a:avLst/>
          </a:prstGeom>
        </p:spPr>
      </p:pic>
      <p:pic>
        <p:nvPicPr>
          <p:cNvPr id="7" name="Picture 2" descr="Deutsch">
            <a:extLst>
              <a:ext uri="{FF2B5EF4-FFF2-40B4-BE49-F238E27FC236}">
                <a16:creationId xmlns:a16="http://schemas.microsoft.com/office/drawing/2014/main" id="{E8DCBA60-C801-845D-F974-5BEF111B58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2" r="11546"/>
          <a:stretch/>
        </p:blipFill>
        <p:spPr bwMode="auto">
          <a:xfrm>
            <a:off x="2716404" y="5920939"/>
            <a:ext cx="2478065" cy="13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792CD8-50C5-44E3-C959-55D495A1F8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44560"/>
          <a:stretch>
            <a:fillRect/>
          </a:stretch>
        </p:blipFill>
        <p:spPr>
          <a:xfrm>
            <a:off x="6631619" y="6453393"/>
            <a:ext cx="1692421" cy="36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49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4" r:id="rId3"/>
    <p:sldLayoutId id="2147483655" r:id="rId4"/>
    <p:sldLayoutId id="2147483663" r:id="rId5"/>
    <p:sldLayoutId id="214748366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980B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980B9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980B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980B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980B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980B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blogs.microsoft.com/agent-framework/author/tstocchi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devblogs.microsoft.com/agent-framework/from-specialist-agents-to-distributed-skills-over-mcp/" TargetMode="Externa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4F96D6-AD6D-A3DB-1F81-619A10E1E5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sz="6600" dirty="0"/>
              <a:t>Osservare l'AI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1EA473C-CEEB-DF22-F8BD-DF490C8806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per migliorare la qualità delle risposte e abbassare il costo dei modelli</a:t>
            </a:r>
          </a:p>
        </p:txBody>
      </p:sp>
    </p:spTree>
    <p:extLst>
      <p:ext uri="{BB962C8B-B14F-4D97-AF65-F5344CB8AC3E}">
        <p14:creationId xmlns:p14="http://schemas.microsoft.com/office/powerpoint/2010/main" val="375658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D3EB12-B666-3271-57C0-04A61719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586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LA DOMANDA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La risposta è solo la punta dell’iceberg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Sotto il testo ci sono decisioni, tool, retry, token e denaro.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399032" y="2084832"/>
            <a:ext cx="987552" cy="98755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627632" y="235000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6B62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310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076B62"/>
                </a:solidFill>
              </a:rPr>
              <a:t>QUALITÀ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76732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Fatti corretti?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Policy rispettate?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Fonti verificabili?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33672" y="2084832"/>
            <a:ext cx="987552" cy="98755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2A6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462272" y="235000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6078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3310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2A6078"/>
                </a:solidFill>
              </a:rPr>
              <a:t>LATENZA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376732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Quanto attendo?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Dove attendo?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È variabilità o regressione?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68312" y="2084832"/>
            <a:ext cx="987552" cy="98755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296912" y="235000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C6C07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55080" y="3310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BC6C07"/>
                </a:solidFill>
              </a:rPr>
              <a:t>TOKEN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376732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Input utile?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Cache hit?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Output o reasoning?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902952" y="2084832"/>
            <a:ext cx="987552" cy="987552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12A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0131552" y="235000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12A28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89720" y="33101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A12A28"/>
                </a:solidFill>
              </a:rPr>
              <a:t>COSTO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89720" y="376732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Per chiamata?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Per run?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342"/>
                </a:solidFill>
              </a:rPr>
              <a:t>Per esito corretto?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3338" y="5239512"/>
            <a:ext cx="115783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Ottimizzare una sola metrica può peggiorare il sistema.</a:t>
            </a:r>
            <a:endParaRPr lang="en-US" sz="40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LA MAPPA DEI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Cinque orchestrazioni + agent-as-tool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Prima scegli chi decide e chi risponde. Poi scegli come collegare i componenti.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40080" y="1938528"/>
            <a:ext cx="3419856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" y="21579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342"/>
                </a:solidFill>
              </a:rPr>
              <a:t>Sequential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624328"/>
            <a:ext cx="30175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A → B → 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Pipeline ordinata: ogni fase passa il risultato alla successiva.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62272" y="1938528"/>
            <a:ext cx="3419856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663440" y="21579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342"/>
                </a:solidFill>
              </a:rPr>
              <a:t>Concurrent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624328"/>
            <a:ext cx="30175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A ∥ B ∥ C → sintesi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Lavori indipendenti in parallelo; raccolta dei risultati.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84464" y="1938528"/>
            <a:ext cx="3419856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485632" y="21579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342"/>
                </a:solidFill>
              </a:rPr>
              <a:t>Handoff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85632" y="2624328"/>
            <a:ext cx="30175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A → B · cambia il responsabile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Il destinatario prende il controllo del task e del dialogo.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11296"/>
            <a:ext cx="3419856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41248" y="3730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342"/>
                </a:solidFill>
              </a:rPr>
              <a:t>Group Chat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" y="4197096"/>
            <a:ext cx="30175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Manager ↔ conversazione condivisa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Turni selezionati e raffinamento tra più agenti.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62272" y="3511296"/>
            <a:ext cx="3419856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663440" y="3730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342"/>
                </a:solidFill>
              </a:rPr>
              <a:t>Magentic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4197096"/>
            <a:ext cx="30175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Pianifica → esegui → verifica → ripianifica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Coordinamento adattivo per problemi aperti.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84464" y="3511296"/>
            <a:ext cx="3419856" cy="1426464"/>
          </a:xfrm>
          <a:prstGeom prst="roundRect">
            <a:avLst>
              <a:gd name="adj" fmla="val 5128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485632" y="3730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342"/>
                </a:solidFill>
              </a:rPr>
              <a:t>Agent-as-tool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85632" y="4197096"/>
            <a:ext cx="30175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Principale → specialista → principale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Delega circoscritta; la risposta finale resta al principale.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166360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076B62"/>
                </a:solidFill>
              </a:rPr>
              <a:t>COMPOSIZIONE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5431536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342"/>
                </a:solidFill>
              </a:rPr>
              <a:t>Agenti nei workflow · workflow come agenti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342"/>
                </a:solidFill>
              </a:rPr>
              <a:t>workflow dichiarativi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62272" y="5166360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076B62"/>
                </a:solidFill>
              </a:rPr>
              <a:t>INTERAZIONE E DURABILITÀ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62272" y="5431536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342"/>
                </a:solidFill>
              </a:rPr>
              <a:t>Human-in-the-loop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342"/>
                </a:solidFill>
              </a:rPr>
              <a:t>checkpoint e ripresa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84464" y="5166360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076B62"/>
                </a:solidFill>
              </a:rPr>
              <a:t>OPERATIVITÀ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84464" y="5431536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342"/>
                </a:solidFill>
              </a:rPr>
              <a:t>Osservabilità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342"/>
                </a:solidFill>
              </a:rPr>
              <a:t>visualizzazione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OSSERVABILITÀ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Seguiamo ogni richiesta end-to-end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Inline, Skills e A2A condividono dominio e dati, ma non lo stesso percorso.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508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49808" y="2980944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6B62"/>
                </a:solidFill>
              </a:rPr>
              <a:t>UTENTE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3101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A76"/>
                </a:solidFill>
              </a:rPr>
              <a:t>domanda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2788920"/>
            <a:ext cx="15544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670048" y="298094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6B62"/>
                </a:solidFill>
              </a:rPr>
              <a:t>ROUTER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3310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A76"/>
                </a:solidFill>
              </a:rPr>
              <a:t>prompt + history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205740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681728" y="22494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6B62"/>
                </a:solidFill>
              </a:rPr>
              <a:t>MODELLO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5786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A76"/>
                </a:solidFill>
              </a:rPr>
              <a:t>inferenza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352044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681728" y="371246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6B62"/>
                </a:solidFill>
              </a:rPr>
              <a:t>TOOL / A2A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404164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A76"/>
                </a:solidFill>
              </a:rPr>
              <a:t>delega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95160" y="278892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104888" y="298094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6B62"/>
                </a:solidFill>
              </a:rPr>
              <a:t>SERVIZI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86600" y="33101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A76"/>
                </a:solidFill>
              </a:rPr>
              <a:t>Catalog · Orders · Returns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72600" y="2788920"/>
            <a:ext cx="2057400" cy="960120"/>
          </a:xfrm>
          <a:prstGeom prst="roundRect">
            <a:avLst>
              <a:gd name="adj" fmla="val 5714"/>
            </a:avLst>
          </a:prstGeom>
          <a:solidFill>
            <a:srgbClr val="102936"/>
          </a:solidFill>
          <a:ln w="1524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482328" y="298094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E0CE"/>
                </a:solidFill>
              </a:rPr>
              <a:t>TELEMETRIA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64040" y="33101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trace · usage · ledger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48840" y="3172968"/>
            <a:ext cx="384048" cy="219456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114800" y="2578608"/>
            <a:ext cx="384048" cy="219456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114800" y="3922776"/>
            <a:ext cx="384048" cy="219456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6473952" y="3172968"/>
            <a:ext cx="457200" cy="219456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8851392" y="3172968"/>
            <a:ext cx="457200" cy="219456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148840" y="50749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342"/>
                </a:solidFill>
              </a:rPr>
              <a:t>Una delega, un retry o una history diversa cambiano il numero di inferenze.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ARCHITETTURA DELLA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Un agente, un processo: 13 risorse orchestrate da Aspire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Stesso dominio e stessi tool; cambia dove vivono istruzioni e modello.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02920" y="3310128"/>
            <a:ext cx="118872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524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34381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342"/>
                </a:solidFill>
              </a:rPr>
              <a:t>web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" y="3712464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React · Vite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chat + telemetria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 flipV="1">
            <a:off x="1691640" y="2523744"/>
            <a:ext cx="411480" cy="1298448"/>
          </a:xfrm>
          <a:prstGeom prst="line">
            <a:avLst/>
          </a:prstGeom>
          <a:noFill/>
          <a:ln w="19050">
            <a:solidFill>
              <a:srgbClr val="526A76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2103120" y="2011680"/>
            <a:ext cx="2011680" cy="1024128"/>
          </a:xfrm>
          <a:prstGeom prst="roundRect">
            <a:avLst>
              <a:gd name="adj" fmla="val 4464"/>
            </a:avLst>
          </a:prstGeom>
          <a:solidFill>
            <a:srgbClr val="102936"/>
          </a:solidFill>
          <a:ln w="1524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148840" y="213969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router-inline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57984" y="241401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MODELLO · istruzioni router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ledger token/costo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0" y="2523744"/>
            <a:ext cx="731520" cy="914"/>
          </a:xfrm>
          <a:prstGeom prst="line">
            <a:avLst/>
          </a:prstGeom>
          <a:noFill/>
          <a:ln w="19050">
            <a:solidFill>
              <a:srgbClr val="2A6078"/>
            </a:solidFill>
            <a:prstDash val="dash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114800" y="2304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A6078"/>
                </a:solidFill>
              </a:rPr>
              <a:t>libreria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60" dirty="0">
                <a:solidFill>
                  <a:srgbClr val="2A6078"/>
                </a:solidFill>
              </a:rPr>
              <a:t>INLINE · tutto in un processo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46320" y="2011680"/>
            <a:ext cx="3337560" cy="1024128"/>
          </a:xfrm>
          <a:prstGeom prst="roundRect">
            <a:avLst>
              <a:gd name="adj" fmla="val 4464"/>
            </a:avLst>
          </a:prstGeom>
          <a:solidFill>
            <a:srgbClr val="EAF3F7"/>
          </a:solidFill>
          <a:ln w="15240">
            <a:solidFill>
              <a:srgbClr val="2A6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892040" y="213969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342"/>
                </a:solidFill>
              </a:rPr>
              <a:t>Observatory.Inline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01184" y="2414016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libreria in-process (nessun processo in più)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istruzioni dei 3 domini concatenate nel prompt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183880" y="2523744"/>
            <a:ext cx="731520" cy="914"/>
          </a:xfrm>
          <a:prstGeom prst="line">
            <a:avLst/>
          </a:prstGeom>
          <a:noFill/>
          <a:ln w="19050">
            <a:solidFill>
              <a:srgbClr val="2A607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183880" y="25877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A6078"/>
                </a:solidFill>
              </a:rPr>
              <a:t>HTTP (router)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691640" y="3822192"/>
            <a:ext cx="411480" cy="914"/>
          </a:xfrm>
          <a:prstGeom prst="line">
            <a:avLst/>
          </a:prstGeom>
          <a:noFill/>
          <a:ln w="19050">
            <a:solidFill>
              <a:srgbClr val="526A76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2103120" y="3310128"/>
            <a:ext cx="2011680" cy="1024128"/>
          </a:xfrm>
          <a:prstGeom prst="roundRect">
            <a:avLst>
              <a:gd name="adj" fmla="val 4464"/>
            </a:avLst>
          </a:prstGeom>
          <a:solidFill>
            <a:srgbClr val="102936"/>
          </a:solidFill>
          <a:ln w="1524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2148840" y="34381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router-skills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57984" y="371246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MODELLO · istruzioni router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ledger token/costo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0" y="3822192"/>
            <a:ext cx="731520" cy="914"/>
          </a:xfrm>
          <a:prstGeom prst="line">
            <a:avLst/>
          </a:prstGeom>
          <a:noFill/>
          <a:ln w="19050">
            <a:solidFill>
              <a:srgbClr val="076B62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114800" y="36027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6B62"/>
                </a:solidFill>
              </a:rPr>
              <a:t>GET SKILL.md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46320" y="3127248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60" dirty="0">
                <a:solidFill>
                  <a:srgbClr val="076B62"/>
                </a:solidFill>
              </a:rPr>
              <a:t>SKILLS · istruzioni remote, tool locali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46320" y="3310128"/>
            <a:ext cx="1069848" cy="1024128"/>
          </a:xfrm>
          <a:prstGeom prst="roundRect">
            <a:avLst>
              <a:gd name="adj" fmla="val 4464"/>
            </a:avLst>
          </a:prstGeom>
          <a:solidFill>
            <a:srgbClr val="E6F4F0"/>
          </a:solidFill>
          <a:ln w="1524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892040" y="3438144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342"/>
                </a:solidFill>
              </a:rPr>
              <a:t>skill-catalog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01184" y="371246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NESSUN MODELLO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/skills · SKILL.md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80176" y="3310128"/>
            <a:ext cx="1069848" cy="1024128"/>
          </a:xfrm>
          <a:prstGeom prst="roundRect">
            <a:avLst>
              <a:gd name="adj" fmla="val 4464"/>
            </a:avLst>
          </a:prstGeom>
          <a:solidFill>
            <a:srgbClr val="E6F4F0"/>
          </a:solidFill>
          <a:ln w="1524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025896" y="3438144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342"/>
                </a:solidFill>
              </a:rPr>
              <a:t>skill-orders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35040" y="371246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NESSUN MODELLO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/skills · SKILL.md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14032" y="3310128"/>
            <a:ext cx="1069848" cy="1024128"/>
          </a:xfrm>
          <a:prstGeom prst="roundRect">
            <a:avLst>
              <a:gd name="adj" fmla="val 4464"/>
            </a:avLst>
          </a:prstGeom>
          <a:solidFill>
            <a:srgbClr val="E6F4F0"/>
          </a:solidFill>
          <a:ln w="1524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7159752" y="3438144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342"/>
                </a:solidFill>
              </a:rPr>
              <a:t>skill-returns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168896" y="371246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NESSUN MODELLO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/skills · SKILL.md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83880" y="3822192"/>
            <a:ext cx="731520" cy="914"/>
          </a:xfrm>
          <a:prstGeom prst="line">
            <a:avLst/>
          </a:prstGeom>
          <a:noFill/>
          <a:ln w="19050">
            <a:solidFill>
              <a:srgbClr val="076B62"/>
            </a:solidFill>
            <a:prstDash val="dash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183880" y="38862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6B62"/>
                </a:solidFill>
              </a:rPr>
              <a:t>HTTP (router)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691640" y="3822192"/>
            <a:ext cx="411480" cy="1298448"/>
          </a:xfrm>
          <a:prstGeom prst="line">
            <a:avLst/>
          </a:prstGeom>
          <a:noFill/>
          <a:ln w="19050">
            <a:solidFill>
              <a:srgbClr val="526A76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38"/>
          <p:cNvSpPr/>
          <p:nvPr/>
        </p:nvSpPr>
        <p:spPr>
          <a:xfrm>
            <a:off x="2103120" y="4608576"/>
            <a:ext cx="2011680" cy="1024128"/>
          </a:xfrm>
          <a:prstGeom prst="roundRect">
            <a:avLst>
              <a:gd name="adj" fmla="val 4464"/>
            </a:avLst>
          </a:prstGeom>
          <a:solidFill>
            <a:srgbClr val="102936"/>
          </a:solidFill>
          <a:ln w="1524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2148840" y="47365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router-a2a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157984" y="501091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MODELLO · istruzioni router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ledger token/costo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14800" y="5120640"/>
            <a:ext cx="731520" cy="914"/>
          </a:xfrm>
          <a:prstGeom prst="line">
            <a:avLst/>
          </a:prstGeom>
          <a:noFill/>
          <a:ln w="19050">
            <a:solidFill>
              <a:srgbClr val="BC6C07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4114800" y="49011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C6C07"/>
                </a:solidFill>
              </a:rPr>
              <a:t>A2A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46320" y="4425696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60" dirty="0">
                <a:solidFill>
                  <a:srgbClr val="BC6C07"/>
                </a:solidFill>
              </a:rPr>
              <a:t>A2A · agenti remoti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46320" y="4608576"/>
            <a:ext cx="1069848" cy="1024128"/>
          </a:xfrm>
          <a:prstGeom prst="roundRect">
            <a:avLst>
              <a:gd name="adj" fmla="val 4464"/>
            </a:avLst>
          </a:prstGeom>
          <a:solidFill>
            <a:srgbClr val="FFF4D6"/>
          </a:solidFill>
          <a:ln w="1524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4892040" y="4736592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342"/>
                </a:solidFill>
              </a:rPr>
              <a:t>agent-catalog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01184" y="501091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MODELLO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procedura + tool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980176" y="4608576"/>
            <a:ext cx="1069848" cy="1024128"/>
          </a:xfrm>
          <a:prstGeom prst="roundRect">
            <a:avLst>
              <a:gd name="adj" fmla="val 4464"/>
            </a:avLst>
          </a:prstGeom>
          <a:solidFill>
            <a:srgbClr val="FFF4D6"/>
          </a:solidFill>
          <a:ln w="1524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6025896" y="4736592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342"/>
                </a:solidFill>
              </a:rPr>
              <a:t>agent-orders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035040" y="501091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MODELLO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procedura + tool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114032" y="4608576"/>
            <a:ext cx="1069848" cy="1024128"/>
          </a:xfrm>
          <a:prstGeom prst="roundRect">
            <a:avLst>
              <a:gd name="adj" fmla="val 4464"/>
            </a:avLst>
          </a:prstGeom>
          <a:solidFill>
            <a:srgbClr val="FFF4D6"/>
          </a:solidFill>
          <a:ln w="1524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7159752" y="4736592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342"/>
                </a:solidFill>
              </a:rPr>
              <a:t>agent-returns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168896" y="501091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MODELLO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procedura + tool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183880" y="5120640"/>
            <a:ext cx="731520" cy="914"/>
          </a:xfrm>
          <a:prstGeom prst="line">
            <a:avLst/>
          </a:prstGeom>
          <a:noFill/>
          <a:ln w="19050">
            <a:solidFill>
              <a:srgbClr val="BC6C07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8183880" y="518464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C6C07"/>
                </a:solidFill>
              </a:rPr>
              <a:t>HTTP (agente)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915400" y="2011680"/>
            <a:ext cx="26517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524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8961120" y="21396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342"/>
                </a:solidFill>
              </a:rPr>
              <a:t>shop-catalog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970264" y="2414016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API di business · NESSUN MODELLO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system of record sintetico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915400" y="3310128"/>
            <a:ext cx="26517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524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8961120" y="34381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342"/>
                </a:solidFill>
              </a:rPr>
              <a:t>shop-orders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970264" y="371246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API di business · NESSUN MODELLO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system of record sintetico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915400" y="4608576"/>
            <a:ext cx="265176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524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8961120" y="47365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342"/>
                </a:solidFill>
              </a:rPr>
              <a:t>shop-returns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970264" y="5010912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API di business · NESSUN MODELLO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26A76"/>
                </a:solidFill>
              </a:rPr>
              <a:t>system of record sintetico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02920" y="5779008"/>
            <a:ext cx="11064240" cy="384048"/>
          </a:xfrm>
          <a:prstGeom prst="roundRect">
            <a:avLst>
              <a:gd name="adj" fmla="val 11905"/>
            </a:avLst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65"/>
          <p:cNvSpPr/>
          <p:nvPr/>
        </p:nvSpPr>
        <p:spPr>
          <a:xfrm>
            <a:off x="685800" y="5879592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EE0CE"/>
                </a:solidFill>
              </a:rPr>
              <a:t>Aspire AppHost · service discovery · ServiceDefaults = OpenTelemetry (trace, metriche, log) → Dashboard · il ledger aggiunge token, cache e costo per chiamata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TOOL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Otto tool di dominio: la descrizione è prompt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Nomi, parametri e descrizioni esatti inviati al modello nella prima chiamata Inline. Testi integrali nelle note.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1600200" cy="329184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TOOL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94560" y="1920240"/>
            <a:ext cx="1874520" cy="329184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240280" y="201168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PARAMETRI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69080" y="1920240"/>
            <a:ext cx="3520440" cy="329184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114800" y="2011680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COSA DICE AL MODELLO (prima frase)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89520" y="1920240"/>
            <a:ext cx="960120" cy="329184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635240" y="20116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API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2249424"/>
            <a:ext cx="16002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49224" y="2286000"/>
            <a:ext cx="1490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search_products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2249424"/>
            <a:ext cx="18745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249424" y="2286000"/>
            <a:ext cx="17647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73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query?, maxPrice?, take?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9080" y="2249424"/>
            <a:ext cx="352044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123944" y="2286000"/>
            <a:ext cx="3410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3342"/>
                </a:solidFill>
              </a:rPr>
              <a:t>Cerca prodotti pubblici senza immagini.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89520" y="2249424"/>
            <a:ext cx="9601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644384" y="2286000"/>
            <a:ext cx="850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73342"/>
                </a:solidFill>
              </a:rPr>
              <a:t>shop-catalog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679192"/>
            <a:ext cx="160020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49224" y="2715768"/>
            <a:ext cx="1490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query_catalog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94560" y="2679192"/>
            <a:ext cx="187452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2249424" y="2715768"/>
            <a:ext cx="17647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73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query?, category?, color?, maxPrice?, inStockOnly?, take?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69080" y="2679192"/>
            <a:ext cx="352044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123944" y="2715768"/>
            <a:ext cx="3410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3342"/>
                </a:solidFill>
              </a:rPr>
              <a:t>Filtra e conta l'intero catalogo.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589520" y="2679192"/>
            <a:ext cx="96012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7644384" y="2715768"/>
            <a:ext cx="850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73342"/>
                </a:solidFill>
              </a:rPr>
              <a:t>shop-catalog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3108960"/>
            <a:ext cx="16002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49224" y="3145536"/>
            <a:ext cx="1490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get_catalog_facets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94560" y="3108960"/>
            <a:ext cx="18745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2249424" y="3145536"/>
            <a:ext cx="17647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069080" y="3108960"/>
            <a:ext cx="352044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123944" y="3145536"/>
            <a:ext cx="3410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3342"/>
                </a:solidFill>
              </a:rPr>
              <a:t>Elenca categorie e colori testuali realmente presenti nel catalogo, con numero di modelli e pezzi.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589520" y="3108960"/>
            <a:ext cx="9601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7644384" y="3145536"/>
            <a:ext cx="850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73342"/>
                </a:solidFill>
              </a:rPr>
              <a:t>shop-catalog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" y="3538728"/>
            <a:ext cx="160020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649224" y="3575304"/>
            <a:ext cx="1490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get_product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194560" y="3538728"/>
            <a:ext cx="187452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2249424" y="3575304"/>
            <a:ext cx="17647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73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069080" y="3538728"/>
            <a:ext cx="352044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4123944" y="3575304"/>
            <a:ext cx="3410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3342"/>
                </a:solidFill>
              </a:rPr>
              <a:t>Leggi i dati pubblici verificati di un prodotto tramite il suo ID.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589520" y="3538728"/>
            <a:ext cx="96012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7644384" y="3575304"/>
            <a:ext cx="850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73342"/>
                </a:solidFill>
              </a:rPr>
              <a:t>shop-catalog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4360" y="3968496"/>
            <a:ext cx="160020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649224" y="4005072"/>
            <a:ext cx="1490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get_order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194560" y="3968496"/>
            <a:ext cx="18745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2249424" y="4005072"/>
            <a:ext cx="17647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73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069080" y="3968496"/>
            <a:ext cx="352044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4123944" y="4005072"/>
            <a:ext cx="3410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3342"/>
                </a:solidFill>
              </a:rPr>
              <a:t>Leggi un ordine del cliente autenticato della run; distingue l'importo effettivamente pagato dal prezzo di listino.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589520" y="3968496"/>
            <a:ext cx="9601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7644384" y="4005072"/>
            <a:ext cx="850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73342"/>
                </a:solidFill>
              </a:rPr>
              <a:t>shop-orders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94360" y="4398264"/>
            <a:ext cx="160020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649224" y="4434840"/>
            <a:ext cx="1490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create_return_draft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194560" y="4398264"/>
            <a:ext cx="187452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2249424" y="4434840"/>
            <a:ext cx="17647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73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orderId, reason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069080" y="4398264"/>
            <a:ext cx="352044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4123944" y="4434840"/>
            <a:ext cx="3410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3342"/>
                </a:solidFill>
              </a:rPr>
              <a:t>Crea una bozza sintetica di reso, non un rimborso.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589520" y="4398264"/>
            <a:ext cx="96012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7644384" y="4434840"/>
            <a:ext cx="850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73342"/>
                </a:solidFill>
              </a:rPr>
              <a:t>shop-orders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94360" y="4828032"/>
            <a:ext cx="1600200" cy="429768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Text 61"/>
          <p:cNvSpPr/>
          <p:nvPr/>
        </p:nvSpPr>
        <p:spPr>
          <a:xfrm>
            <a:off x="649224" y="4864608"/>
            <a:ext cx="1490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12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assess_return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194560" y="4828032"/>
            <a:ext cx="1874520" cy="429768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2249424" y="4864608"/>
            <a:ext cx="17647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12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orderId, reason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069080" y="4828032"/>
            <a:ext cx="3520440" cy="429768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65"/>
          <p:cNvSpPr/>
          <p:nvPr/>
        </p:nvSpPr>
        <p:spPr>
          <a:xfrm>
            <a:off x="4123944" y="4864608"/>
            <a:ext cx="3410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3342"/>
                </a:solidFill>
              </a:rPr>
              <a:t>Valuta il motivo corrente del reso secondo ordine e policy effettivi; reason deve riflettere l'ultima correzione del cliente.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589520" y="4828032"/>
            <a:ext cx="960120" cy="429768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67"/>
          <p:cNvSpPr/>
          <p:nvPr/>
        </p:nvSpPr>
        <p:spPr>
          <a:xfrm>
            <a:off x="7644384" y="4864608"/>
            <a:ext cx="850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73342"/>
                </a:solidFill>
              </a:rPr>
              <a:t>shop-returns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94360" y="5257800"/>
            <a:ext cx="160020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69"/>
          <p:cNvSpPr/>
          <p:nvPr/>
        </p:nvSpPr>
        <p:spPr>
          <a:xfrm>
            <a:off x="649224" y="5294376"/>
            <a:ext cx="1490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get_policies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194560" y="5257800"/>
            <a:ext cx="187452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71"/>
          <p:cNvSpPr/>
          <p:nvPr/>
        </p:nvSpPr>
        <p:spPr>
          <a:xfrm>
            <a:off x="2249424" y="5294376"/>
            <a:ext cx="17647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069080" y="5257800"/>
            <a:ext cx="352044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4123944" y="5294376"/>
            <a:ext cx="3410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3342"/>
                </a:solidFill>
              </a:rPr>
              <a:t>Leggi le policy sintetiche del negozio in ordine di priorita.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589520" y="5257800"/>
            <a:ext cx="960120" cy="429768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Text 75"/>
          <p:cNvSpPr/>
          <p:nvPr/>
        </p:nvSpPr>
        <p:spPr>
          <a:xfrm>
            <a:off x="7644384" y="5294376"/>
            <a:ext cx="850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73342"/>
                </a:solidFill>
              </a:rPr>
              <a:t>shop-returns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808720" y="3226742"/>
            <a:ext cx="27889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Text 77"/>
          <p:cNvSpPr/>
          <p:nvPr/>
        </p:nvSpPr>
        <p:spPr>
          <a:xfrm>
            <a:off x="9009888" y="344619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3342"/>
                </a:solidFill>
              </a:rPr>
              <a:t>Chi riceve i tool</a:t>
            </a:r>
            <a:endParaRPr lang="en-US" sz="1250" dirty="0"/>
          </a:p>
        </p:txBody>
      </p:sp>
      <p:sp>
        <p:nvSpPr>
          <p:cNvPr id="80" name="Text 78"/>
          <p:cNvSpPr/>
          <p:nvPr/>
        </p:nvSpPr>
        <p:spPr>
          <a:xfrm>
            <a:off x="9009888" y="3912542"/>
            <a:ext cx="238658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26A76"/>
                </a:solidFill>
              </a:rPr>
              <a:t>Inline e Skills: il router riceve tutti gli 8.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26A76"/>
                </a:solidFill>
              </a:rPr>
              <a:t>A2A: ogni agente solo i propri; il router vede 3 tool agente.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26A76"/>
                </a:solidFill>
              </a:rPr>
              <a:t>Skills aggiunge load_skill e read_skill_resource.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DESCRIZIONI AGENTICHE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Lo stesso specialista, confezionato in tre modi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Cosa legge il modello per decidere a chi chiedere, e quando legge la procedura completa.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BC6C07"/>
                </a:solidFill>
              </a:rPr>
              <a:t>A2A · descrizione del tool agente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6243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26A76"/>
                </a:solidFill>
              </a:rPr>
              <a:t>il router A2A la vede sempre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76B62"/>
                </a:solidFill>
              </a:rPr>
              <a:t>SKILLS · description di SKILL.md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8130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26A76"/>
                </a:solidFill>
              </a:rPr>
              <a:t>il router Skills la vede sempre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4709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02936"/>
                </a:solidFill>
              </a:rPr>
              <a:t>PROCEDURA dello specialista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50017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26A76"/>
                </a:solidFill>
              </a:rPr>
              <a:t>Inline: sempre nel prompt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26A76"/>
                </a:solidFill>
              </a:rPr>
              <a:t>Skills: dopo load_skill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26A76"/>
                </a:solidFill>
              </a:rPr>
              <a:t>A2A: nel prompt dell’agente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83464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342"/>
                </a:solidFill>
              </a:rPr>
              <a:t>CATALOG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2267712"/>
            <a:ext cx="2743200" cy="1078992"/>
          </a:xfrm>
          <a:prstGeom prst="roundRect">
            <a:avLst>
              <a:gd name="adj" fmla="val 4237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944368" y="2340864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3342"/>
                </a:solidFill>
              </a:rPr>
              <a:t>Delega al servizio Catalog tramite A2A: ricerca, dettagli, conteggi completi di modelli e pezzi, categorie e colori testuali. Includi i filtri correnti e il contesto utile del follow-up.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4640" y="3456432"/>
            <a:ext cx="2743200" cy="1078992"/>
          </a:xfrm>
          <a:prstGeom prst="roundRect">
            <a:avLst>
              <a:gd name="adj" fmla="val 4237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944368" y="3529584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3342"/>
                </a:solidFill>
              </a:rPr>
              <a:t>Istruzioni dello specialista Catalog, per ricerca prodotti, filtri combinati, conteggi di modelli e pezzi, categorie e colori testuali del catalogo.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34640" y="4645152"/>
            <a:ext cx="274320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944368" y="4718304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3342"/>
                </a:solidFill>
              </a:rPr>
              <a:t>1683 caratteri · 15 righe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73342"/>
                </a:solidFill>
              </a:rPr>
              <a:t>“Per ricerche con filtri o conteggi usa query_catalog(query, category, color, maxPrice, inStockOnly, take).”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342"/>
                </a:solidFill>
              </a:rPr>
              <a:t>ORDERS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0" y="2267712"/>
            <a:ext cx="2743200" cy="1078992"/>
          </a:xfrm>
          <a:prstGeom prst="roundRect">
            <a:avLst>
              <a:gd name="adj" fmla="val 4237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870448" y="2340864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3342"/>
                </a:solidFill>
              </a:rPr>
              <a:t>Delega allo specialista orders tramite A2A ufficiale su HTTP. Restituisce solo fatti di dominio verificati.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3456432"/>
            <a:ext cx="2743200" cy="1078992"/>
          </a:xfrm>
          <a:prstGeom prst="roundRect">
            <a:avLst>
              <a:gd name="adj" fmla="val 4237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870448" y="3529584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3342"/>
                </a:solidFill>
              </a:rPr>
              <a:t>Istruzioni dello specialista Orders, per leggere un ordine del cliente, distinguere pagato e listino, creare bozze di reso solo su richiesta esplicita con conferma server.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60720" y="4645152"/>
            <a:ext cx="274320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870448" y="4718304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3342"/>
                </a:solidFill>
              </a:rPr>
              <a:t>368 caratteri · 4 righe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73342"/>
                </a:solidFill>
              </a:rPr>
              <a:t>“Usa get_order con l'ID ordine esplicito e il cliente vincolato dal server.”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342"/>
                </a:solidFill>
              </a:rPr>
              <a:t>RETURNS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0" y="2267712"/>
            <a:ext cx="2743200" cy="1078992"/>
          </a:xfrm>
          <a:prstGeom prst="roundRect">
            <a:avLst>
              <a:gd name="adj" fmla="val 4237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796528" y="2340864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3342"/>
                </a:solidFill>
              </a:rPr>
              <a:t>Delega allo specialista returns tramite A2A ufficiale su HTTP. Restituisce solo fatti di dominio verificati.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686800" y="3456432"/>
            <a:ext cx="2743200" cy="1078992"/>
          </a:xfrm>
          <a:prstGeom prst="roundRect">
            <a:avLst>
              <a:gd name="adj" fmla="val 4237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8796528" y="3529584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3342"/>
                </a:solidFill>
              </a:rPr>
              <a:t>Istruzioni dello specialista Returns, per valutare l'ammissibilita di un reso con l'ultimo motivo del cliente e spiegare le policy del negozio.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686800" y="4645152"/>
            <a:ext cx="274320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8796528" y="4718304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73342"/>
                </a:solidFill>
              </a:rPr>
              <a:t>466 caratteri · 6 righe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73342"/>
                </a:solidFill>
              </a:rPr>
              <a:t>“Usa assess_return con l'ID ordine esplicito e il motivo corrente, comprese le ultime correzioni.”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342"/>
                </a:solidFill>
              </a:rPr>
              <a:t>Descrizione breve = routing economico. Procedura completa = solo quando serve (Skills) o solo dove serve (A2A).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A2A VS SKILL · 1/3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Dove avviene il reasoning?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Stesso bisogno di dominio; cambia il numero di reasoner coinvolti.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40080" y="1938528"/>
            <a:ext cx="5349240" cy="3913632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651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68680" y="21396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C6C07"/>
                </a:solidFill>
              </a:rPr>
              <a:t>A2A · Agent-as-tool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48716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A76"/>
                </a:solidFill>
              </a:rPr>
              <a:t>Il principale delega un task a un altro reasoner.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65960" y="2871216"/>
            <a:ext cx="2697480" cy="658368"/>
          </a:xfrm>
          <a:prstGeom prst="roundRect">
            <a:avLst>
              <a:gd name="adj" fmla="val 5556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148840" y="30723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C6C07"/>
                </a:solidFill>
              </a:rPr>
              <a:t>MAIN AGENT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1938528"/>
            <a:ext cx="5349240" cy="3913632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651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428232" y="213969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6B62"/>
                </a:solidFill>
              </a:rPr>
              <a:t>Distributed Skill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19672" y="248716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A76"/>
                </a:solidFill>
              </a:rPr>
              <a:t>Il principale acquisisce competenza e operazioni.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525512" y="2871216"/>
            <a:ext cx="2697480" cy="658368"/>
          </a:xfrm>
          <a:prstGeom prst="roundRect">
            <a:avLst>
              <a:gd name="adj" fmla="val 5556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708392" y="30723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6B62"/>
                </a:solidFill>
              </a:rPr>
              <a:t>MAIN AGENT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rot="5400000">
            <a:off x="3151094" y="3611880"/>
            <a:ext cx="347472" cy="292608"/>
          </a:xfrm>
          <a:prstGeom prst="chevron">
            <a:avLst/>
          </a:prstGeom>
          <a:solidFill>
            <a:srgbClr val="BC6C07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572768" y="36758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6A76"/>
                </a:solidFill>
              </a:rPr>
              <a:t>“chiama Weather”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65960" y="4050792"/>
            <a:ext cx="2697480" cy="1261872"/>
          </a:xfrm>
          <a:prstGeom prst="roundRect">
            <a:avLst>
              <a:gd name="adj" fmla="val 2899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2148840" y="42245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C6C07"/>
                </a:solidFill>
              </a:rPr>
              <a:t>WEATHER AGENT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167128" y="4617720"/>
            <a:ext cx="2295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73342"/>
                </a:solidFill>
              </a:rPr>
              <a:t>LLM → weather API → LLM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25880" y="534009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C6C07"/>
                </a:solidFill>
              </a:rPr>
              <a:t>risposta testuale → Main Agent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52360" y="3794760"/>
            <a:ext cx="2816352" cy="475488"/>
          </a:xfrm>
          <a:prstGeom prst="roundRect">
            <a:avLst>
              <a:gd name="adj" fmla="val 5769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589520" y="386791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76B62"/>
                </a:solidFill>
              </a:rPr>
              <a:t>WEATHER SKILL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86800" y="386791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73342"/>
                </a:solidFill>
              </a:rPr>
              <a:t>SKILL.md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 rot="5400000">
            <a:off x="8717694" y="4198867"/>
            <a:ext cx="235120" cy="124475"/>
          </a:xfrm>
          <a:prstGeom prst="chevron">
            <a:avLst/>
          </a:prstGeom>
          <a:solidFill>
            <a:srgbClr val="076B62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7452360" y="4398264"/>
            <a:ext cx="2816352" cy="475488"/>
          </a:xfrm>
          <a:prstGeom prst="roundRect">
            <a:avLst>
              <a:gd name="adj" fmla="val 5769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7589520" y="447141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76B62"/>
                </a:solidFill>
              </a:rPr>
              <a:t>MCP TOOLS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686800" y="447141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73342"/>
                </a:solidFill>
              </a:rPr>
              <a:t>weather_current() · weather_forecast()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 rot="5400000">
            <a:off x="8727052" y="4824088"/>
            <a:ext cx="216407" cy="114568"/>
          </a:xfrm>
          <a:prstGeom prst="chevron">
            <a:avLst/>
          </a:prstGeom>
          <a:solidFill>
            <a:srgbClr val="076B62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7452360" y="5001768"/>
            <a:ext cx="2816352" cy="475488"/>
          </a:xfrm>
          <a:prstGeom prst="roundRect">
            <a:avLst>
              <a:gd name="adj" fmla="val 5769"/>
            </a:avLst>
          </a:prstGeom>
          <a:solidFill>
            <a:srgbClr val="EAF3F7"/>
          </a:solidFill>
          <a:ln w="12700">
            <a:solidFill>
              <a:srgbClr val="2A6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7589520" y="507492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A6078"/>
                </a:solidFill>
              </a:rPr>
              <a:t>WEATHER SERVICE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686800" y="507492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73342"/>
                </a:solidFill>
              </a:rPr>
              <a:t>API / dati di dominio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25880" y="561441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12A28"/>
                </a:solidFill>
              </a:rPr>
              <a:t>2 livelli di reasoning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903720" y="561441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6B62"/>
                </a:solidFill>
              </a:rPr>
              <a:t>1 reasoning loop · servizi ancora remoti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A2A VS SKILL · 3/3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Delego il reasoning o delego la capability?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La scelta dipende da autonomia e isolamento, non dal fatto che il servizio sia remoto.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85800" y="1975104"/>
            <a:ext cx="5230368" cy="3493008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651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C6C07"/>
                </a:solidFill>
              </a:rPr>
              <a:t>AGENT-AS-TOOL · A2A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578608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73342"/>
                </a:solidFill>
              </a:rPr>
              <a:t>“Delego il reasoning”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399032" y="3127248"/>
            <a:ext cx="3803904" cy="502920"/>
          </a:xfrm>
          <a:prstGeom prst="roundRect">
            <a:avLst>
              <a:gd name="adj" fmla="val 5455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554480" y="32186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BC6C07"/>
                </a:solidFill>
              </a:rPr>
              <a:t>SPECIALIST AGENT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32186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73342"/>
                </a:solidFill>
              </a:rPr>
              <a:t>Model + Tools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99032" y="3785616"/>
            <a:ext cx="3803904" cy="502920"/>
          </a:xfrm>
          <a:prstGeom prst="roundRect">
            <a:avLst>
              <a:gd name="adj" fmla="val 5455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554480" y="387705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BC6C07"/>
                </a:solidFill>
              </a:rPr>
              <a:t>CONTEXT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38770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73342"/>
                </a:solidFill>
              </a:rPr>
              <a:t>privato e isolato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399032" y="4443984"/>
            <a:ext cx="3803904" cy="502920"/>
          </a:xfrm>
          <a:prstGeom prst="roundRect">
            <a:avLst>
              <a:gd name="adj" fmla="val 5455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554480" y="453542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BC6C07"/>
                </a:solidFill>
              </a:rPr>
              <a:t>STATE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45354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73342"/>
                </a:solidFill>
              </a:rPr>
              <a:t>lifecycle indipendente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81928" y="1975104"/>
            <a:ext cx="5230368" cy="3493008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651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510528" y="2194560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6B62"/>
                </a:solidFill>
              </a:rPr>
              <a:t>DISTRIBUTED SKILL · MCP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01968" y="2578608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73342"/>
                </a:solidFill>
              </a:rPr>
              <a:t>“Delego la capability”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995160" y="3127248"/>
            <a:ext cx="3803904" cy="502920"/>
          </a:xfrm>
          <a:prstGeom prst="roundRect">
            <a:avLst>
              <a:gd name="adj" fmla="val 5455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7150608" y="32186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76B62"/>
                </a:solidFill>
              </a:rPr>
              <a:t>INSTRUCTIONS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13648" y="32186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73342"/>
                </a:solidFill>
              </a:rPr>
              <a:t>procedura di dominio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95160" y="3785616"/>
            <a:ext cx="3803904" cy="502920"/>
          </a:xfrm>
          <a:prstGeom prst="roundRect">
            <a:avLst>
              <a:gd name="adj" fmla="val 5455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7150608" y="387705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76B62"/>
                </a:solidFill>
              </a:rPr>
              <a:t>TYPED TOOLS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13648" y="38770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73342"/>
                </a:solidFill>
              </a:rPr>
              <a:t>contratti operativi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95160" y="4443984"/>
            <a:ext cx="3803904" cy="502920"/>
          </a:xfrm>
          <a:prstGeom prst="roundRect">
            <a:avLst>
              <a:gd name="adj" fmla="val 5455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150608" y="453542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76B62"/>
                </a:solidFill>
              </a:rPr>
              <a:t>REMOTE SERVICE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13648" y="45354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73342"/>
                </a:solidFill>
              </a:rPr>
              <a:t>business logic e dati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5650992"/>
            <a:ext cx="4800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C6C07"/>
                </a:solidFill>
              </a:rPr>
              <a:t>Scegli Agent quando deve pensare autonomamente.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28232" y="5650992"/>
            <a:ext cx="4800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6B62"/>
                </a:solidFill>
              </a:rPr>
              <a:t>Scegli Skill quando deve fornire competenza + operazioni.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A2A VS SKILL · 2/3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Da specialisti agentici a competenze distribuite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I servizi restano separati; può scomparire il modello dentro ogni specialista.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85800" y="1975104"/>
            <a:ext cx="3246120" cy="36118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C6C07"/>
                </a:solidFill>
              </a:rPr>
              <a:t>PRIMA · 5 REASONER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34440" y="2624328"/>
            <a:ext cx="2148840" cy="530352"/>
          </a:xfrm>
          <a:prstGeom prst="roundRect">
            <a:avLst>
              <a:gd name="adj" fmla="val 6897"/>
            </a:avLst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417320" y="27889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MAIN AGENT · LLM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401568"/>
            <a:ext cx="2606040" cy="356616"/>
          </a:xfrm>
          <a:prstGeom prst="roundRect">
            <a:avLst>
              <a:gd name="adj" fmla="val 7692"/>
            </a:avLst>
          </a:prstGeom>
          <a:solidFill>
            <a:srgbClr val="EAF3F7"/>
          </a:solidFill>
          <a:ln w="12700">
            <a:solidFill>
              <a:srgbClr val="2A6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143000" y="3493008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6078"/>
                </a:solidFill>
              </a:rPr>
              <a:t>WEATHER AGENT · LLM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05840" y="3886200"/>
            <a:ext cx="2606040" cy="356616"/>
          </a:xfrm>
          <a:prstGeom prst="roundRect">
            <a:avLst>
              <a:gd name="adj" fmla="val 7692"/>
            </a:avLst>
          </a:prstGeom>
          <a:solidFill>
            <a:srgbClr val="FFF1ED"/>
          </a:solidFill>
          <a:ln w="12700">
            <a:solidFill>
              <a:srgbClr val="A12A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143000" y="397764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12A28"/>
                </a:solidFill>
              </a:rPr>
              <a:t>SAFETY AGENT · LLM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4370832"/>
            <a:ext cx="2606040" cy="356616"/>
          </a:xfrm>
          <a:prstGeom prst="roundRect">
            <a:avLst>
              <a:gd name="adj" fmla="val 7692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143000" y="446227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6B62"/>
                </a:solidFill>
              </a:rPr>
              <a:t>SKI AGENT · LLM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5840" y="4855464"/>
            <a:ext cx="2606040" cy="356616"/>
          </a:xfrm>
          <a:prstGeom prst="roundRect">
            <a:avLst>
              <a:gd name="adj" fmla="val 7692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143000" y="494690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C6C07"/>
                </a:solidFill>
              </a:rPr>
              <a:t>LIFT AGENT · LLM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51960" y="3374136"/>
            <a:ext cx="749808" cy="512064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041648" y="406908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6B62"/>
                </a:solidFill>
              </a:rPr>
              <a:t>sposta le istruzioni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76B62"/>
                </a:solidFill>
              </a:rPr>
              <a:t>nel principale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49240" y="1975104"/>
            <a:ext cx="6153912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651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577840" y="2194560"/>
            <a:ext cx="5696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6B62"/>
                </a:solidFill>
              </a:rPr>
              <a:t>DOPO · 1 REASONER + 4 CAPABILITY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50608" y="2624328"/>
            <a:ext cx="2514600" cy="530352"/>
          </a:xfrm>
          <a:prstGeom prst="roundRect">
            <a:avLst>
              <a:gd name="adj" fmla="val 6897"/>
            </a:avLst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333488" y="27889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MAIN AGENT · LLM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97880" y="3401568"/>
            <a:ext cx="2148840" cy="356616"/>
          </a:xfrm>
          <a:prstGeom prst="roundRect">
            <a:avLst>
              <a:gd name="adj" fmla="val 7692"/>
            </a:avLst>
          </a:prstGeom>
          <a:solidFill>
            <a:srgbClr val="EAF3F7"/>
          </a:solidFill>
          <a:ln w="12700">
            <a:solidFill>
              <a:srgbClr val="2A6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035040" y="349300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6078"/>
                </a:solidFill>
              </a:rPr>
              <a:t>WEATHER SKILL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11312" y="3474720"/>
            <a:ext cx="310896" cy="201168"/>
          </a:xfrm>
          <a:prstGeom prst="chevron">
            <a:avLst/>
          </a:prstGeom>
          <a:solidFill>
            <a:srgbClr val="2A6078"/>
          </a:solidFill>
          <a:ln w="12700">
            <a:solidFill>
              <a:srgbClr val="2A6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8686800" y="3401568"/>
            <a:ext cx="2240280" cy="356616"/>
          </a:xfrm>
          <a:prstGeom prst="roundRect">
            <a:avLst>
              <a:gd name="adj" fmla="val 7692"/>
            </a:avLst>
          </a:prstGeom>
          <a:solidFill>
            <a:srgbClr val="F3F6F7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823960" y="349300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73342"/>
                </a:solidFill>
              </a:rPr>
              <a:t>meteo MCP tools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97880" y="3886200"/>
            <a:ext cx="2148840" cy="356616"/>
          </a:xfrm>
          <a:prstGeom prst="roundRect">
            <a:avLst>
              <a:gd name="adj" fmla="val 7692"/>
            </a:avLst>
          </a:prstGeom>
          <a:solidFill>
            <a:srgbClr val="FFF1ED"/>
          </a:solidFill>
          <a:ln w="12700">
            <a:solidFill>
              <a:srgbClr val="A12A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035040" y="397764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12A28"/>
                </a:solidFill>
              </a:rPr>
              <a:t>SAFETY SKILL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11312" y="3959352"/>
            <a:ext cx="310896" cy="201168"/>
          </a:xfrm>
          <a:prstGeom prst="chevron">
            <a:avLst/>
          </a:prstGeom>
          <a:solidFill>
            <a:srgbClr val="A12A28"/>
          </a:solidFill>
          <a:ln w="12700">
            <a:solidFill>
              <a:srgbClr val="A12A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8686800" y="3886200"/>
            <a:ext cx="2240280" cy="356616"/>
          </a:xfrm>
          <a:prstGeom prst="roundRect">
            <a:avLst>
              <a:gd name="adj" fmla="val 7692"/>
            </a:avLst>
          </a:prstGeom>
          <a:solidFill>
            <a:srgbClr val="F3F6F7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8823960" y="397764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73342"/>
                </a:solidFill>
              </a:rPr>
              <a:t>sicurezza MCP tools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97880" y="4370832"/>
            <a:ext cx="2148840" cy="356616"/>
          </a:xfrm>
          <a:prstGeom prst="roundRect">
            <a:avLst>
              <a:gd name="adj" fmla="val 7692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6035040" y="446227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6B62"/>
                </a:solidFill>
              </a:rPr>
              <a:t>SKI SKILL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11312" y="4443984"/>
            <a:ext cx="310896" cy="201168"/>
          </a:xfrm>
          <a:prstGeom prst="chevron">
            <a:avLst/>
          </a:prstGeom>
          <a:solidFill>
            <a:srgbClr val="076B62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8686800" y="4370832"/>
            <a:ext cx="2240280" cy="356616"/>
          </a:xfrm>
          <a:prstGeom prst="roundRect">
            <a:avLst>
              <a:gd name="adj" fmla="val 7692"/>
            </a:avLst>
          </a:prstGeom>
          <a:solidFill>
            <a:srgbClr val="F3F6F7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823960" y="446227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73342"/>
                </a:solidFill>
              </a:rPr>
              <a:t>piste MCP tools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97880" y="4855464"/>
            <a:ext cx="2148840" cy="356616"/>
          </a:xfrm>
          <a:prstGeom prst="roundRect">
            <a:avLst>
              <a:gd name="adj" fmla="val 7692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035040" y="494690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C6C07"/>
                </a:solidFill>
              </a:rPr>
              <a:t>LIFT SKILL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11312" y="4928616"/>
            <a:ext cx="310896" cy="201168"/>
          </a:xfrm>
          <a:prstGeom prst="chevron">
            <a:avLst/>
          </a:prstGeom>
          <a:solidFill>
            <a:srgbClr val="BC6C07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8686800" y="4855464"/>
            <a:ext cx="2240280" cy="356616"/>
          </a:xfrm>
          <a:prstGeom prst="roundRect">
            <a:avLst>
              <a:gd name="adj" fmla="val 7692"/>
            </a:avLst>
          </a:prstGeom>
          <a:solidFill>
            <a:srgbClr val="F3F6F7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8823960" y="494690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73342"/>
                </a:solidFill>
              </a:rPr>
              <a:t>impianti MCP tools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5760720"/>
            <a:ext cx="10012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342"/>
                </a:solidFill>
              </a:rPr>
              <a:t>Dominio, deploy e ownership restano distribuiti.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CONSIDERAZIONI · 1/2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Serve un altro agente o un’altra competenza?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Tool, skill e agent-as-tool distribuiscono responsabilità diverse, non soltanto chiamate HTTP.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40080" y="1938528"/>
            <a:ext cx="2441448" cy="376732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Tommaso Stocchi — foto del profilo Microsoft Developer Blog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884" y="2148840"/>
            <a:ext cx="1005840" cy="1005840"/>
          </a:xfrm>
          <a:prstGeom prst="rect">
            <a:avLst/>
          </a:prstGeom>
        </p:spPr>
      </p:pic>
      <p:sp>
        <p:nvSpPr>
          <p:cNvPr id="8" name="Text 5">
            <a:hlinkClick r:id="rId3"/>
          </p:cNvPr>
          <p:cNvSpPr/>
          <p:nvPr/>
        </p:nvSpPr>
        <p:spPr>
          <a:xfrm>
            <a:off x="813816" y="334670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17334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Tommaso Stocchi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2104" y="3712464"/>
            <a:ext cx="2057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A76"/>
                </a:solidFill>
              </a:rPr>
              <a:t>Microsoft Developer Blogs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26A76"/>
                </a:solidFill>
              </a:rPr>
              <a:t>16 settembre 2026</a:t>
            </a:r>
            <a:endParaRPr lang="en-US" sz="1050" dirty="0"/>
          </a:p>
        </p:txBody>
      </p:sp>
      <p:sp>
        <p:nvSpPr>
          <p:cNvPr id="10" name="Text 7">
            <a:hlinkClick r:id="rId5"/>
          </p:cNvPr>
          <p:cNvSpPr/>
          <p:nvPr/>
        </p:nvSpPr>
        <p:spPr>
          <a:xfrm>
            <a:off x="850392" y="4416552"/>
            <a:ext cx="20208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dirty="0">
                <a:solidFill>
                  <a:srgbClr val="076B6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From Specialist Agents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u="sng" dirty="0">
                <a:solidFill>
                  <a:srgbClr val="076B6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 Distributed Skills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u="sng" dirty="0">
                <a:solidFill>
                  <a:srgbClr val="076B6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 MCP</a:t>
            </a:r>
            <a:endParaRPr lang="en-US" sz="1200" dirty="0"/>
          </a:p>
        </p:txBody>
      </p:sp>
      <p:sp>
        <p:nvSpPr>
          <p:cNvPr id="11" name="Text 8">
            <a:hlinkClick r:id="rId3"/>
          </p:cNvPr>
          <p:cNvSpPr/>
          <p:nvPr/>
        </p:nvSpPr>
        <p:spPr>
          <a:xfrm>
            <a:off x="804672" y="527608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526A7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Foto: profilo autore Microsoft</a:t>
            </a:r>
            <a:endParaRPr lang="en-US" sz="800" dirty="0"/>
          </a:p>
          <a:p>
            <a:pPr marL="0" indent="0" algn="ctr">
              <a:buNone/>
            </a:pPr>
            <a:r>
              <a:rPr lang="en-US" sz="800" u="sng" dirty="0">
                <a:solidFill>
                  <a:srgbClr val="526A7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a fonte e profilo cliccabili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337560" y="1938528"/>
            <a:ext cx="8183880" cy="1097280"/>
          </a:xfrm>
          <a:prstGeom prst="roundRect">
            <a:avLst>
              <a:gd name="adj" fmla="val 4167"/>
            </a:avLst>
          </a:prstGeom>
          <a:solidFill>
            <a:srgbClr val="EAF3F7"/>
          </a:solidFill>
          <a:ln w="12700">
            <a:solidFill>
              <a:srgbClr val="2A6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3547872" y="2194560"/>
            <a:ext cx="19019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A6078"/>
                </a:solidFill>
              </a:rPr>
              <a:t>TOOL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596128" y="2130552"/>
            <a:ext cx="5687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342"/>
                </a:solidFill>
              </a:rPr>
              <a:t>Esegue un’operazione delimitata.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342"/>
                </a:solidFill>
              </a:rPr>
              <a:t>La decisione su quando usarlo resta al chiamante.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37560" y="3182112"/>
            <a:ext cx="8183880" cy="1097280"/>
          </a:xfrm>
          <a:prstGeom prst="roundRect">
            <a:avLst>
              <a:gd name="adj" fmla="val 4167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3547872" y="3438144"/>
            <a:ext cx="19019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6B62"/>
                </a:solidFill>
              </a:rPr>
              <a:t>SKILL DISTRIBUITA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596128" y="3374136"/>
            <a:ext cx="5687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342"/>
                </a:solidFill>
              </a:rPr>
              <a:t>Porta una procedura nel contesto del principale.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173342"/>
                </a:solidFill>
              </a:rPr>
              <a:t>Istruzioni</a:t>
            </a:r>
            <a:r>
              <a:rPr lang="en-US" sz="1200" dirty="0">
                <a:solidFill>
                  <a:srgbClr val="173342"/>
                </a:solidFill>
              </a:rPr>
              <a:t> + tool remoti via MCP, senza un LLM specialista.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337560" y="4425696"/>
            <a:ext cx="8183880" cy="1097280"/>
          </a:xfrm>
          <a:prstGeom prst="roundRect">
            <a:avLst>
              <a:gd name="adj" fmla="val 4167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3547872" y="4681728"/>
            <a:ext cx="19019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BC6C07"/>
                </a:solidFill>
              </a:rPr>
              <a:t>AGENT-AS-TOOL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596128" y="4617720"/>
            <a:ext cx="5687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342"/>
                </a:solidFill>
              </a:rPr>
              <a:t>Delega un sottoproblema a un altro reasoner.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342"/>
                </a:solidFill>
              </a:rPr>
              <a:t>Utile per autonomia, contesto privato, modello o workflow specializzato.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337560" y="5705856"/>
            <a:ext cx="8183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342"/>
                </a:solidFill>
              </a:rPr>
              <a:t>Servizi e ownership possono restare distribuiti anche con un solo reasoner principale.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CONSIDERAZIONI · 2/2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Dialogo tra agenti: chi mantiene il controllo?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Agent-as-tool è adatto a risposte mirate e responsabilità chiare; la velocità va misurata.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40080" y="1938528"/>
            <a:ext cx="6793992" cy="950976"/>
          </a:xfrm>
          <a:prstGeom prst="roundRect">
            <a:avLst>
              <a:gd name="adj" fmla="val 4808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76B62"/>
                </a:solidFill>
              </a:rPr>
              <a:t>Delega · agent-as-tool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6428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342"/>
                </a:solidFill>
              </a:rPr>
              <a:t>Principale → specialista → principale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342"/>
                </a:solidFill>
              </a:rPr>
              <a:t>Responsabilità del sottotask allo specialista; risposta finale al principale.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008376"/>
            <a:ext cx="6793992" cy="950976"/>
          </a:xfrm>
          <a:prstGeom prst="roundRect">
            <a:avLst>
              <a:gd name="adj" fmla="val 4808"/>
            </a:avLst>
          </a:prstGeom>
          <a:solidFill>
            <a:srgbClr val="EAF3F7"/>
          </a:solidFill>
          <a:ln w="12700">
            <a:solidFill>
              <a:srgbClr val="2A6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22960" y="3145536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A6078"/>
                </a:solidFill>
              </a:rPr>
              <a:t>Trasferimento · handoff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47288"/>
            <a:ext cx="6428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342"/>
                </a:solidFill>
              </a:rPr>
              <a:t>Agente A → agente 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342"/>
                </a:solidFill>
              </a:rPr>
              <a:t>Il destinatario assume il task e prosegue il dialogo.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078224"/>
            <a:ext cx="6793992" cy="950976"/>
          </a:xfrm>
          <a:prstGeom prst="roundRect">
            <a:avLst>
              <a:gd name="adj" fmla="val 4808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22960" y="4215384"/>
            <a:ext cx="6428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BC6C07"/>
                </a:solidFill>
              </a:rPr>
              <a:t>Collaborazione · group chat / Magentic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517136"/>
            <a:ext cx="6428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342"/>
                </a:solidFill>
              </a:rPr>
              <a:t>Manager ↔ agenti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342"/>
                </a:solidFill>
              </a:rPr>
              <a:t>Contesto condiviso, turni o piano adattivo; più coordinamento da misurare.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80960" y="1938528"/>
            <a:ext cx="3867912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872984" y="2112264"/>
            <a:ext cx="3483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70" dirty="0">
                <a:solidFill>
                  <a:srgbClr val="076B62"/>
                </a:solidFill>
              </a:rPr>
              <a:t>NELLA DEMO DI STOCCHI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72984" y="2423160"/>
            <a:ext cx="3483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3342"/>
                </a:solidFill>
              </a:rPr>
              <a:t>Tre coppie di run, non un benchmark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72984" y="2825496"/>
            <a:ext cx="1545336" cy="338328"/>
          </a:xfrm>
          <a:prstGeom prst="rect">
            <a:avLst/>
          </a:prstGeom>
          <a:solidFill>
            <a:srgbClr val="10293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909560" y="2916936"/>
            <a:ext cx="1472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MISURA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418320" y="2825496"/>
            <a:ext cx="914400" cy="338328"/>
          </a:xfrm>
          <a:prstGeom prst="rect">
            <a:avLst/>
          </a:prstGeom>
          <a:solidFill>
            <a:srgbClr val="10293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9454896" y="2916936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A2A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332720" y="2825496"/>
            <a:ext cx="1024128" cy="338328"/>
          </a:xfrm>
          <a:prstGeom prst="rect">
            <a:avLst/>
          </a:prstGeom>
          <a:solidFill>
            <a:srgbClr val="10293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0369296" y="2916936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SKILL MCP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72984" y="3163824"/>
            <a:ext cx="1545336" cy="338328"/>
          </a:xfrm>
          <a:prstGeom prst="rect">
            <a:avLst/>
          </a:prstGeom>
          <a:solidFill>
            <a:srgbClr val="F3F6F7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7909560" y="3255264"/>
            <a:ext cx="1472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3342"/>
                </a:solidFill>
              </a:rPr>
              <a:t>Media end-to-end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418320" y="3163824"/>
            <a:ext cx="914400" cy="338328"/>
          </a:xfrm>
          <a:prstGeom prst="rect">
            <a:avLst/>
          </a:prstGeom>
          <a:solidFill>
            <a:srgbClr val="F3F6F7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9454896" y="32552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3342"/>
                </a:solidFill>
              </a:rPr>
              <a:t>15,480 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0332720" y="3163824"/>
            <a:ext cx="1024128" cy="338328"/>
          </a:xfrm>
          <a:prstGeom prst="rect">
            <a:avLst/>
          </a:prstGeom>
          <a:solidFill>
            <a:srgbClr val="F3F6F7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10369296" y="3255264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3342"/>
                </a:solidFill>
              </a:rPr>
              <a:t>6,348 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72984" y="3502152"/>
            <a:ext cx="1545336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7909560" y="3593592"/>
            <a:ext cx="1472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3342"/>
                </a:solidFill>
              </a:rPr>
              <a:t>Chiamate / run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418320" y="3502152"/>
            <a:ext cx="914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9454896" y="3593592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3342"/>
                </a:solidFill>
              </a:rPr>
              <a:t>6 / 6 / 7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332720" y="3502152"/>
            <a:ext cx="10241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10369296" y="359359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3342"/>
                </a:solidFill>
              </a:rPr>
              <a:t>3 / 3 / 3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872984" y="3840480"/>
            <a:ext cx="1545336" cy="338328"/>
          </a:xfrm>
          <a:prstGeom prst="rect">
            <a:avLst/>
          </a:prstGeom>
          <a:solidFill>
            <a:srgbClr val="F3F6F7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7909560" y="3931920"/>
            <a:ext cx="1472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3342"/>
                </a:solidFill>
              </a:rPr>
              <a:t>Token totali (3 run)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418320" y="3840480"/>
            <a:ext cx="914400" cy="338328"/>
          </a:xfrm>
          <a:prstGeom prst="rect">
            <a:avLst/>
          </a:prstGeom>
          <a:solidFill>
            <a:srgbClr val="F3F6F7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9454896" y="3931920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3342"/>
                </a:solidFill>
              </a:rPr>
              <a:t>11.134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332720" y="3840480"/>
            <a:ext cx="1024128" cy="338328"/>
          </a:xfrm>
          <a:prstGeom prst="rect">
            <a:avLst/>
          </a:prstGeom>
          <a:solidFill>
            <a:srgbClr val="F3F6F7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10369296" y="3931920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73342"/>
                </a:solidFill>
              </a:rPr>
              <a:t>13.533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872984" y="4398264"/>
            <a:ext cx="34838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A12A28"/>
                </a:solidFill>
              </a:rPr>
              <a:t>Skill più rapide qui, ma +22% token.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A12A28"/>
                </a:solidFill>
              </a:rPr>
              <a:t>Cache e lavoro non equivalenti.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A12A28"/>
                </a:solidFill>
              </a:rPr>
              <a:t>Nessuna garanzia su qualità o costo.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" y="5294376"/>
            <a:ext cx="6793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70" dirty="0">
                <a:solidFill>
                  <a:srgbClr val="076B62"/>
                </a:solidFill>
              </a:rPr>
              <a:t>PATTERN ≠ PROTOCOLLO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5559552"/>
            <a:ext cx="10881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342"/>
                </a:solidFill>
              </a:rPr>
              <a:t>A2A: interoperabilità tra agenti · MCP: accesso a tool e risorse.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3342"/>
                </a:solidFill>
              </a:rPr>
              <a:t>Mettere un agente dietro MCP non elimina il suo ciclo LLM.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PROMPTING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5.4 → 5.6 → 6: cambia il contratto, non solo il nome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Le guide evolvono da controllo della forma a obiettivi, prove e autonomia.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EAF3F7"/>
          </a:solidFill>
          <a:ln w="12700">
            <a:solidFill>
              <a:srgbClr val="2A6078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59536" y="217627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A6078"/>
                </a:solidFill>
              </a:rPr>
              <a:t>Forma e dettaglio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" y="246888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342"/>
                </a:solidFill>
              </a:rPr>
              <a:t>GPT-5.4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9536" y="2907792"/>
            <a:ext cx="2999232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Guida la verbosità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Separa dettaglio da reasoning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Adatta la risposta al task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01168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681728" y="217627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76B62"/>
                </a:solidFill>
              </a:rPr>
              <a:t>Esito e prove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81728" y="246888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342"/>
                </a:solidFill>
              </a:rPr>
              <a:t>GPT-5.6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81728" y="2907792"/>
            <a:ext cx="2999232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Dichiara risultato e vincoli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Chiedi evidenze e stop condition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Rimuovi ridondanza per gruppi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2752" y="201168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503920" y="217627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BC6C07"/>
                </a:solidFill>
              </a:rPr>
              <a:t>Autonomia governata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246888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342"/>
                </a:solidFill>
              </a:rPr>
              <a:t>GPT-6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2907792"/>
            <a:ext cx="2999232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Dichiara margine di autonomia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Chiarisci quando chiedere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Controlla skill e priorità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58155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936"/>
                </a:solidFill>
              </a:rPr>
              <a:t>Non migrare i prompt con “trova e sostituisci”: rivaluta istruzioni, tool e criteri di completamento.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FAMIGLIA GPT-6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Astra, Sol, Luna… e Terra?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Stessa famiglia non significa stesso profilo operativo.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90040" y="1993392"/>
            <a:ext cx="2606040" cy="3639312"/>
          </a:xfrm>
          <a:prstGeom prst="roundRect">
            <a:avLst>
              <a:gd name="adj" fmla="val 2807"/>
            </a:avLst>
          </a:prstGeom>
          <a:solidFill>
            <a:srgbClr val="FFF1ED"/>
          </a:solidFill>
          <a:ln w="12700">
            <a:solidFill>
              <a:srgbClr val="A12A28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291208" y="215798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A12A28"/>
                </a:solidFill>
              </a:rPr>
              <a:t>Massima capacità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91208" y="2450592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3342"/>
                </a:solidFill>
              </a:rPr>
              <a:t>ASTRA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1208" y="2889504"/>
            <a:ext cx="2203704" cy="2596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Lavoro end-to-end difficile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reasoning, coding, ricerca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Tariffe listino: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$10 / $1 / $50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410080" y="5074920"/>
            <a:ext cx="196596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483232" y="514807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12A28"/>
                </a:solidFill>
              </a:rPr>
              <a:t>INPUT / CACHE / OUTPUT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38496" y="1965960"/>
            <a:ext cx="2606040" cy="3639312"/>
          </a:xfrm>
          <a:prstGeom prst="roundRect">
            <a:avLst>
              <a:gd name="adj" fmla="val 2807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939664" y="2130552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BC6C07"/>
                </a:solidFill>
              </a:rPr>
              <a:t>Agentic &amp; coding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9664" y="2423160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3342"/>
                </a:solidFill>
              </a:rPr>
              <a:t>SOL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939664" y="2862072"/>
            <a:ext cx="2203704" cy="2596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Workflow complessi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strumenti e contesto lungo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Tariffe listino: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$2 / $0,2 / $10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58536" y="5047488"/>
            <a:ext cx="196596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131688" y="512064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6C07"/>
                </a:solidFill>
              </a:rPr>
              <a:t>INPUT / CACHE / OUTPUT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546972" y="1993392"/>
            <a:ext cx="2606040" cy="3639312"/>
          </a:xfrm>
          <a:prstGeom prst="roundRect">
            <a:avLst>
              <a:gd name="adj" fmla="val 2807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  <a:effectLst>
            <a:outerShdw blurRad="12700" dist="50800" dir="2700000" algn="bl" rotWithShape="0">
              <a:srgbClr val="102936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748140" y="215798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76B62"/>
                </a:solidFill>
              </a:rPr>
              <a:t>Efficienza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48140" y="2450592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3342"/>
                </a:solidFill>
              </a:rPr>
              <a:t>LUNA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748140" y="2889504"/>
            <a:ext cx="2203704" cy="2596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Task focalizzati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alto volume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Tariffe listino: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26A76"/>
                </a:solidFill>
              </a:rPr>
              <a:t>$0,1 / $0,01 / $0,5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867012" y="5074920"/>
            <a:ext cx="1965960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8940164" y="514807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6B62"/>
                </a:solidFill>
              </a:rPr>
              <a:t>INPUT / CACHE / OUTPUT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25880" y="5815584"/>
            <a:ext cx="9555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936"/>
                </a:solidFill>
              </a:rPr>
              <a:t>Scegli per task + SLA + qualità accettabile. Non dal prezzo per token isolato.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PROMPT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Un prompt utile è un contratto osservabile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Riduci ambiguità prima di ridurre token.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40080" y="1993392"/>
            <a:ext cx="34290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41248" y="2249424"/>
            <a:ext cx="566928" cy="566928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21945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76B62"/>
                </a:solidFill>
              </a:rPr>
              <a:t>RISULTATO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72768" y="255117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342"/>
                </a:solidFill>
              </a:rPr>
              <a:t>Cosa deve essere vero alla fine?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1993392"/>
            <a:ext cx="34290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681728" y="2249424"/>
            <a:ext cx="566928" cy="566928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846320" y="242316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13248" y="21945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76B62"/>
                </a:solidFill>
              </a:rPr>
              <a:t>CONTESTO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13248" y="255117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342"/>
                </a:solidFill>
              </a:rPr>
              <a:t>Quali fatti servono davvero?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21040" y="1993392"/>
            <a:ext cx="34290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8522208" y="2249424"/>
            <a:ext cx="566928" cy="566928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686800" y="242316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53728" y="219456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76B62"/>
                </a:solidFill>
              </a:rPr>
              <a:t>VINCOLI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53728" y="255117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342"/>
                </a:solidFill>
              </a:rPr>
              <a:t>Policy, sicurezza, consenso, budget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502152"/>
            <a:ext cx="34290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841248" y="3758184"/>
            <a:ext cx="566928" cy="566928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005840" y="393192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72768" y="370332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76B62"/>
                </a:solidFill>
              </a:rPr>
              <a:t>PROVE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72768" y="40599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342"/>
                </a:solidFill>
              </a:rPr>
              <a:t>Fonti, tool, dati da citare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80560" y="3502152"/>
            <a:ext cx="34290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681728" y="3758184"/>
            <a:ext cx="566928" cy="566928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846320" y="393192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13248" y="370332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76B62"/>
                </a:solidFill>
              </a:rPr>
              <a:t>STOP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13248" y="40599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342"/>
                </a:solidFill>
              </a:rPr>
              <a:t>Quando completare o chiedere chiarimenti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321040" y="3502152"/>
            <a:ext cx="342900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8522208" y="3758184"/>
            <a:ext cx="566928" cy="566928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8686800" y="3931920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53728" y="370332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76B62"/>
                </a:solidFill>
              </a:rPr>
              <a:t>FORMATO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53728" y="405993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342"/>
                </a:solidFill>
              </a:rPr>
              <a:t>Struttura e livello di dettaglio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965960" y="5321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A12A28"/>
                </a:solidFill>
              </a:rPr>
              <a:t>Tagliare prima di chiarire = risparmiare token per ottenere più retry.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ECONOMIA DEI TOKEN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Input, cache e output non costano allo stesso modo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Il ledger deve conservare contatori e tariffa applicata per ogni chiamata.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5029200" cy="960120"/>
          </a:xfrm>
          <a:prstGeom prst="rect">
            <a:avLst/>
          </a:prstGeom>
          <a:solidFill>
            <a:srgbClr val="2A607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04672" y="2450592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NUOVO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4015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A76"/>
                </a:solidFill>
              </a:rPr>
              <a:t>istruzioni dinamiche · history · tool result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0" y="2240280"/>
            <a:ext cx="1828800" cy="960120"/>
          </a:xfrm>
          <a:prstGeom prst="rect">
            <a:avLst/>
          </a:prstGeom>
          <a:solidFill>
            <a:srgbClr val="076B6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833872" y="245059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IN CACHE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A76"/>
                </a:solidFill>
              </a:rPr>
              <a:t>prefisso stabile riusato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0" y="2240280"/>
            <a:ext cx="1097280" cy="960120"/>
          </a:xfrm>
          <a:prstGeom prst="rect">
            <a:avLst/>
          </a:prstGeom>
          <a:solidFill>
            <a:srgbClr val="BC6C0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662672" y="245059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CACHE WRITE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589520" y="34015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A76"/>
                </a:solidFill>
              </a:rPr>
              <a:t>prefisso scritto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0" y="2240280"/>
            <a:ext cx="2057400" cy="960120"/>
          </a:xfrm>
          <a:prstGeom prst="rect">
            <a:avLst/>
          </a:prstGeom>
          <a:solidFill>
            <a:srgbClr val="A12A2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759952" y="245059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34015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A76"/>
                </a:solidFill>
              </a:rPr>
              <a:t>risposta + reasoning incluso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9808" y="4224528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50976" y="4443984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Cache hit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0976" y="4910328"/>
            <a:ext cx="30266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Riduce il costo del prefisso già noto. Non riduce automaticamente output, tool o retry.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4224528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590288" y="4443984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Cache write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0288" y="4910328"/>
            <a:ext cx="30266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Può avere una tariffa propria. Nel ledger Sol sostituisce il normale costo input.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28432" y="4224528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1ED"/>
          </a:solidFill>
          <a:ln w="12700">
            <a:solidFill>
              <a:srgbClr val="A12A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229600" y="4443984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Reasoning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0" y="4910328"/>
            <a:ext cx="302666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È un sottoinsieme dell’output: non sommarlo una seconda volta.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PROMPT CACHING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La cache premia la stabilità del prefisso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Metti il contenuto stabile prima; sposta il dinamico dopo.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97280" y="2395728"/>
            <a:ext cx="2057400" cy="777240"/>
          </a:xfrm>
          <a:prstGeom prst="roundRect">
            <a:avLst>
              <a:gd name="adj" fmla="val 3529"/>
            </a:avLst>
          </a:prstGeom>
          <a:solidFill>
            <a:srgbClr val="076B6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133856" y="2670048"/>
            <a:ext cx="1984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/ POLICY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2395728"/>
            <a:ext cx="1097280" cy="777240"/>
          </a:xfrm>
          <a:prstGeom prst="roundRect">
            <a:avLst>
              <a:gd name="adj" fmla="val 3529"/>
            </a:avLst>
          </a:prstGeom>
          <a:solidFill>
            <a:srgbClr val="076B6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191256" y="267004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TOOLS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51960" y="2395728"/>
            <a:ext cx="1828800" cy="777240"/>
          </a:xfrm>
          <a:prstGeom prst="roundRect">
            <a:avLst>
              <a:gd name="adj" fmla="val 3529"/>
            </a:avLst>
          </a:prstGeom>
          <a:solidFill>
            <a:srgbClr val="076B6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288536" y="267004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ESEMPI STABILI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2395728"/>
            <a:ext cx="2011680" cy="777240"/>
          </a:xfrm>
          <a:prstGeom prst="roundRect">
            <a:avLst>
              <a:gd name="adj" fmla="val 3529"/>
            </a:avLst>
          </a:prstGeom>
          <a:solidFill>
            <a:srgbClr val="2A607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117336" y="267004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HISTORY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92440" y="2395728"/>
            <a:ext cx="1463040" cy="777240"/>
          </a:xfrm>
          <a:prstGeom prst="roundRect">
            <a:avLst>
              <a:gd name="adj" fmla="val 3529"/>
            </a:avLst>
          </a:prstGeom>
          <a:solidFill>
            <a:srgbClr val="BC6C0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29016" y="267004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DOMANDA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43000" y="3456432"/>
            <a:ext cx="4892040" cy="0"/>
          </a:xfrm>
          <a:prstGeom prst="line">
            <a:avLst/>
          </a:prstGeom>
          <a:noFill/>
          <a:ln w="38100">
            <a:solidFill>
              <a:srgbClr val="076B6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468880" y="36393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76B62"/>
                </a:solidFill>
              </a:rPr>
              <a:t>PREFISSO RIUSABILE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4279392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86968" y="449884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342"/>
                </a:solidFill>
              </a:rPr>
              <a:t>Stabile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86968" y="4965192"/>
            <a:ext cx="2157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A76"/>
                </a:solidFill>
              </a:rPr>
              <a:t>system, policy e tool schema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47872" y="4279392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749040" y="449884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342"/>
                </a:solidFill>
              </a:rPr>
              <a:t>Identico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749040" y="4965192"/>
            <a:ext cx="2157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A76"/>
                </a:solidFill>
              </a:rPr>
              <a:t>non cambiare spazi/versioni inutilmente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9944" y="4279392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611112" y="449884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342"/>
                </a:solidFill>
              </a:rPr>
              <a:t>Lungo abbastanza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611112" y="4965192"/>
            <a:ext cx="2157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A76"/>
                </a:solidFill>
              </a:rPr>
              <a:t>verificare soglie e comportamento provider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272016" y="4279392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9473184" y="449884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3342"/>
                </a:solidFill>
              </a:rPr>
              <a:t>Misurato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473184" y="4965192"/>
            <a:ext cx="21579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26A76"/>
                </a:solidFill>
              </a:rPr>
              <a:t>cache hit rate, costo e latenza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342"/>
                </a:solidFill>
              </a:rPr>
              <a:t>Cache miss ≠ bug. È un segnale da spiegare.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LATENZA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Prompt lungo: costo certo, latenza da misurare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La durata end-to-end è composta da più segmenti.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143000" y="2240280"/>
            <a:ext cx="822960" cy="658368"/>
          </a:xfrm>
          <a:prstGeom prst="rect">
            <a:avLst/>
          </a:prstGeom>
          <a:solidFill>
            <a:srgbClr val="526A7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143000" y="24780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QUEUE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65960" y="2240280"/>
            <a:ext cx="2103120" cy="658368"/>
          </a:xfrm>
          <a:prstGeom prst="rect">
            <a:avLst/>
          </a:prstGeom>
          <a:solidFill>
            <a:srgbClr val="2A607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965960" y="247802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69080" y="2240280"/>
            <a:ext cx="1737360" cy="658368"/>
          </a:xfrm>
          <a:prstGeom prst="rect">
            <a:avLst/>
          </a:prstGeom>
          <a:solidFill>
            <a:srgbClr val="BC6C0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069080" y="247802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REASONING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06440" y="2240280"/>
            <a:ext cx="2377440" cy="658368"/>
          </a:xfrm>
          <a:prstGeom prst="rect">
            <a:avLst/>
          </a:prstGeom>
          <a:solidFill>
            <a:srgbClr val="076B6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806440" y="247802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TOOLS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83880" y="2240280"/>
            <a:ext cx="1325880" cy="658368"/>
          </a:xfrm>
          <a:prstGeom prst="rect">
            <a:avLst/>
          </a:prstGeom>
          <a:solidFill>
            <a:srgbClr val="A12A2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83880" y="247802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" y="3108960"/>
            <a:ext cx="8366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526A76"/>
                </a:solidFill>
              </a:rPr>
              <a:t>tempo end-to-end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" y="4041648"/>
            <a:ext cx="34015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005840" y="426110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Più contesto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727448"/>
            <a:ext cx="299923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A76"/>
                </a:solidFill>
              </a:rPr>
              <a:t>+ prefill · + costo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A76"/>
                </a:solidFill>
              </a:rPr>
              <a:t>ma meno lookup mancanti?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26864" y="4041648"/>
            <a:ext cx="34015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828032" y="426110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Più spiegazione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28032" y="4727448"/>
            <a:ext cx="299923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A76"/>
                </a:solidFill>
              </a:rPr>
              <a:t>+ output · + tempo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A76"/>
                </a:solidFill>
              </a:rPr>
              <a:t>ma più chiarezza?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49056" y="4041648"/>
            <a:ext cx="34015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8650224" y="426110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3342"/>
                </a:solidFill>
              </a:rPr>
              <a:t>Più autonomia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50224" y="4727448"/>
            <a:ext cx="299923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A76"/>
                </a:solidFill>
              </a:rPr>
              <a:t>+ tool/retry possibili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26A76"/>
                </a:solidFill>
              </a:rPr>
              <a:t>ma meno handoff umano?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965960" y="56692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12A28"/>
                </a:solidFill>
              </a:rPr>
              <a:t>Nella demo la “prima risposta” è bufferizzata: non chiamarla TTFT del provider.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ESPERIMENTI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Cambiare una variabile. Ripetere. Conservare evidenza.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BAD vs GOOD, GOOD vs ridondante, GPT-5 vs GPT-6 Sol.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280160" y="2084832"/>
            <a:ext cx="749808" cy="749808"/>
          </a:xfrm>
          <a:prstGeom prst="ellipse">
            <a:avLst/>
          </a:prstGeom>
          <a:solidFill>
            <a:srgbClr val="10293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444752" y="23408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081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6B62"/>
                </a:solidFill>
              </a:rPr>
              <a:t>FISSA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4930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3342"/>
                </a:solidFill>
              </a:rPr>
              <a:t>scenario · dati · limiti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42616" y="2340864"/>
            <a:ext cx="256032" cy="201168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593592" y="2084832"/>
            <a:ext cx="749808" cy="749808"/>
          </a:xfrm>
          <a:prstGeom prst="ellipse">
            <a:avLst/>
          </a:prstGeom>
          <a:solidFill>
            <a:srgbClr val="10293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758184" y="23408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07792" y="3081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6B62"/>
                </a:solidFill>
              </a:rPr>
              <a:t>VARIA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07792" y="34930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3342"/>
                </a:solidFill>
              </a:rPr>
              <a:t>un solo fattore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6048" y="2340864"/>
            <a:ext cx="256032" cy="201168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5907024" y="2084832"/>
            <a:ext cx="749808" cy="749808"/>
          </a:xfrm>
          <a:prstGeom prst="ellipse">
            <a:avLst/>
          </a:prstGeom>
          <a:solidFill>
            <a:srgbClr val="10293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071616" y="23408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21224" y="3081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6B62"/>
                </a:solidFill>
              </a:rPr>
              <a:t>RIPETI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21224" y="34930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3342"/>
                </a:solidFill>
              </a:rPr>
              <a:t>≥ 3 run · ordine alternato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69480" y="2340864"/>
            <a:ext cx="256032" cy="201168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220456" y="2084832"/>
            <a:ext cx="749808" cy="749808"/>
          </a:xfrm>
          <a:prstGeom prst="ellipse">
            <a:avLst/>
          </a:prstGeom>
          <a:solidFill>
            <a:srgbClr val="10293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385048" y="23408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34656" y="3081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6B62"/>
                </a:solidFill>
              </a:rPr>
              <a:t>VALUTA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34656" y="34930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3342"/>
                </a:solidFill>
              </a:rPr>
              <a:t>rubrica + telemetria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82912" y="2340864"/>
            <a:ext cx="256032" cy="201168"/>
          </a:xfrm>
          <a:prstGeom prst="chevron">
            <a:avLst/>
          </a:prstGeom>
          <a:solidFill>
            <a:srgbClr val="7EE0CE"/>
          </a:solidFill>
          <a:ln w="12700">
            <a:solidFill>
              <a:srgbClr val="7EE0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10533888" y="2084832"/>
            <a:ext cx="749808" cy="749808"/>
          </a:xfrm>
          <a:prstGeom prst="ellipse">
            <a:avLst/>
          </a:prstGeom>
          <a:solidFill>
            <a:srgbClr val="076B6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0698480" y="23408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E0CE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48088" y="3081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6B62"/>
                </a:solidFill>
              </a:rPr>
              <a:t>CONSERVA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48088" y="34930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3342"/>
                </a:solidFill>
              </a:rPr>
              <a:t>prompt · run · tariffa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97280" y="4407408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EAF3F7"/>
          </a:solidFill>
          <a:ln w="12700">
            <a:solidFill>
              <a:srgbClr val="2A6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1298448" y="46268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A/B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98448" y="5093208"/>
            <a:ext cx="2660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BAD → GOOD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cambia il profilo prompt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53712" y="4407408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FFF4D6"/>
          </a:solidFill>
          <a:ln w="12700">
            <a:solidFill>
              <a:srgbClr val="BC6C0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754880" y="46268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B/C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54880" y="5093208"/>
            <a:ext cx="2660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GOOD → ridondante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cambia un solo blocco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4407408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8202168" y="4626864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MODELLO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02168" y="5093208"/>
            <a:ext cx="2660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GPT-5 → GPT-6 Sol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26A76"/>
                </a:solidFill>
              </a:rPr>
              <a:t>stesso task e limiti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MISURE LIVE · 25 SETTEMBRE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Sei run reali: token, latenza, costo ed esito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GPT-5 / GOOD · stessa domanda · 4.096 output token/call · budget applicativo 0,10 USD/run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1097280" cy="43891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30936" y="211226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CASO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91640" y="1965960"/>
            <a:ext cx="548640" cy="43891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728216" y="211226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CALL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40280" y="1965960"/>
            <a:ext cx="1207008" cy="43891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276856" y="211226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47288" y="1965960"/>
            <a:ext cx="1207008" cy="43891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483864" y="211226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CACHED¹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54296" y="1965960"/>
            <a:ext cx="1207008" cy="43891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690872" y="211226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OUTPUT²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61304" y="1965960"/>
            <a:ext cx="1234440" cy="43891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897880" y="2112264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REASONING²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95744" y="1965960"/>
            <a:ext cx="960120" cy="43891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132320" y="2112264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SECONDI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55864" y="1965960"/>
            <a:ext cx="1325880" cy="43891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8092440" y="2112264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81744" y="1965960"/>
            <a:ext cx="2194560" cy="438912"/>
          </a:xfrm>
          <a:prstGeom prst="rect">
            <a:avLst/>
          </a:prstGeom>
          <a:solidFill>
            <a:srgbClr val="10293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9418320" y="2112264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ESITO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404872"/>
            <a:ext cx="10972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40080" y="2532888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342"/>
                </a:solidFill>
              </a:rPr>
              <a:t>Inline 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91640" y="2404872"/>
            <a:ext cx="54864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737360" y="253288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40280" y="2404872"/>
            <a:ext cx="1207008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286000" y="253288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16.424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47288" y="2404872"/>
            <a:ext cx="1207008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493008" y="253288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14.336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54296" y="2404872"/>
            <a:ext cx="1207008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700016" y="253288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5133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61304" y="2404872"/>
            <a:ext cx="123444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5907024" y="2532888"/>
            <a:ext cx="1143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4736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95744" y="2404872"/>
            <a:ext cx="96012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7141464" y="2532888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69,81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55864" y="2404872"/>
            <a:ext cx="13258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8101584" y="2532888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0,05573200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381744" y="2404872"/>
            <a:ext cx="21945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9427464" y="2532888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342"/>
                </a:solidFill>
              </a:rPr>
              <a:t>Risposta presente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4360" y="2816352"/>
            <a:ext cx="1097280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640080" y="2944368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342"/>
                </a:solidFill>
              </a:rPr>
              <a:t>Inline 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691640" y="2816352"/>
            <a:ext cx="548640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1737360" y="294436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6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40280" y="2816352"/>
            <a:ext cx="1207008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2286000" y="294436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16.417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447288" y="2816352"/>
            <a:ext cx="1207008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3493008" y="294436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15.232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54296" y="2816352"/>
            <a:ext cx="1207008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4700016" y="294436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4352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861304" y="2816352"/>
            <a:ext cx="1234440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5907024" y="2944368"/>
            <a:ext cx="1143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3904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095744" y="2816352"/>
            <a:ext cx="960120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7141464" y="2944368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69,13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055864" y="2816352"/>
            <a:ext cx="1325880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8101584" y="2944368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0,04690525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381744" y="2816352"/>
            <a:ext cx="2194560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9427464" y="2944368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342"/>
                </a:solidFill>
              </a:rPr>
              <a:t>Risposta presente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94360" y="3227832"/>
            <a:ext cx="10972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640080" y="3355848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342"/>
                </a:solidFill>
              </a:rPr>
              <a:t>Skills 1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691640" y="3227832"/>
            <a:ext cx="54864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Text 61"/>
          <p:cNvSpPr/>
          <p:nvPr/>
        </p:nvSpPr>
        <p:spPr>
          <a:xfrm>
            <a:off x="1737360" y="33558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9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240280" y="3227832"/>
            <a:ext cx="1207008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2286000" y="335584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37.449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447288" y="3227832"/>
            <a:ext cx="1207008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65"/>
          <p:cNvSpPr/>
          <p:nvPr/>
        </p:nvSpPr>
        <p:spPr>
          <a:xfrm>
            <a:off x="3493008" y="335584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29.824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654296" y="3227832"/>
            <a:ext cx="1207008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67"/>
          <p:cNvSpPr/>
          <p:nvPr/>
        </p:nvSpPr>
        <p:spPr>
          <a:xfrm>
            <a:off x="4700016" y="335584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5545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861304" y="3227832"/>
            <a:ext cx="123444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69"/>
          <p:cNvSpPr/>
          <p:nvPr/>
        </p:nvSpPr>
        <p:spPr>
          <a:xfrm>
            <a:off x="5907024" y="3355848"/>
            <a:ext cx="1143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5056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095744" y="3227832"/>
            <a:ext cx="96012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71"/>
          <p:cNvSpPr/>
          <p:nvPr/>
        </p:nvSpPr>
        <p:spPr>
          <a:xfrm>
            <a:off x="7141464" y="3355848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79,77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055864" y="3227832"/>
            <a:ext cx="132588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8101584" y="3355848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0,06870925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9381744" y="3227832"/>
            <a:ext cx="21945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Text 75"/>
          <p:cNvSpPr/>
          <p:nvPr/>
        </p:nvSpPr>
        <p:spPr>
          <a:xfrm>
            <a:off x="9427464" y="3355848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342"/>
                </a:solidFill>
              </a:rPr>
              <a:t>Risposta presente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94360" y="3639312"/>
            <a:ext cx="1097280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Text 77"/>
          <p:cNvSpPr/>
          <p:nvPr/>
        </p:nvSpPr>
        <p:spPr>
          <a:xfrm>
            <a:off x="640080" y="3767328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342"/>
                </a:solidFill>
              </a:rPr>
              <a:t>Skills 2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1691640" y="3639312"/>
            <a:ext cx="548640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1" name="Text 79"/>
          <p:cNvSpPr/>
          <p:nvPr/>
        </p:nvSpPr>
        <p:spPr>
          <a:xfrm>
            <a:off x="1737360" y="376732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9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2240280" y="3639312"/>
            <a:ext cx="1207008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3" name="Text 81"/>
          <p:cNvSpPr/>
          <p:nvPr/>
        </p:nvSpPr>
        <p:spPr>
          <a:xfrm>
            <a:off x="2286000" y="376732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34.989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3447288" y="3639312"/>
            <a:ext cx="1207008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5" name="Text 83"/>
          <p:cNvSpPr/>
          <p:nvPr/>
        </p:nvSpPr>
        <p:spPr>
          <a:xfrm>
            <a:off x="3493008" y="376732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32.000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4654296" y="3639312"/>
            <a:ext cx="1207008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7" name="Text 85"/>
          <p:cNvSpPr/>
          <p:nvPr/>
        </p:nvSpPr>
        <p:spPr>
          <a:xfrm>
            <a:off x="4700016" y="376732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3821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5861304" y="3639312"/>
            <a:ext cx="1234440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9" name="Text 87"/>
          <p:cNvSpPr/>
          <p:nvPr/>
        </p:nvSpPr>
        <p:spPr>
          <a:xfrm>
            <a:off x="5907024" y="3767328"/>
            <a:ext cx="1143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3392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095744" y="3639312"/>
            <a:ext cx="960120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1" name="Text 89"/>
          <p:cNvSpPr/>
          <p:nvPr/>
        </p:nvSpPr>
        <p:spPr>
          <a:xfrm>
            <a:off x="7141464" y="3767328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71,32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8055864" y="3639312"/>
            <a:ext cx="1325880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3" name="Text 91"/>
          <p:cNvSpPr/>
          <p:nvPr/>
        </p:nvSpPr>
        <p:spPr>
          <a:xfrm>
            <a:off x="8101584" y="3767328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0,04594625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9381744" y="3639312"/>
            <a:ext cx="2194560" cy="411480"/>
          </a:xfrm>
          <a:prstGeom prst="rect">
            <a:avLst/>
          </a:prstGeom>
          <a:solidFill>
            <a:srgbClr val="F7FAFA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5" name="Text 93"/>
          <p:cNvSpPr/>
          <p:nvPr/>
        </p:nvSpPr>
        <p:spPr>
          <a:xfrm>
            <a:off x="9427464" y="3767328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342"/>
                </a:solidFill>
              </a:rPr>
              <a:t>Risposta presente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594360" y="4050792"/>
            <a:ext cx="1097280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7" name="Text 95"/>
          <p:cNvSpPr/>
          <p:nvPr/>
        </p:nvSpPr>
        <p:spPr>
          <a:xfrm>
            <a:off x="640080" y="4178808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342"/>
                </a:solidFill>
              </a:rPr>
              <a:t>A2A 1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1691640" y="4050792"/>
            <a:ext cx="548640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9" name="Text 97"/>
          <p:cNvSpPr/>
          <p:nvPr/>
        </p:nvSpPr>
        <p:spPr>
          <a:xfrm>
            <a:off x="1737360" y="417880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8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2240280" y="4050792"/>
            <a:ext cx="1207008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1" name="Text 99"/>
          <p:cNvSpPr/>
          <p:nvPr/>
        </p:nvSpPr>
        <p:spPr>
          <a:xfrm>
            <a:off x="2286000" y="417880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11.342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3447288" y="4050792"/>
            <a:ext cx="1207008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3" name="Text 101"/>
          <p:cNvSpPr/>
          <p:nvPr/>
        </p:nvSpPr>
        <p:spPr>
          <a:xfrm>
            <a:off x="3493008" y="417880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5888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4654296" y="4050792"/>
            <a:ext cx="1207008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5" name="Text 103"/>
          <p:cNvSpPr/>
          <p:nvPr/>
        </p:nvSpPr>
        <p:spPr>
          <a:xfrm>
            <a:off x="4700016" y="417880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10.919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5861304" y="4050792"/>
            <a:ext cx="1234440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7" name="Text 105"/>
          <p:cNvSpPr/>
          <p:nvPr/>
        </p:nvSpPr>
        <p:spPr>
          <a:xfrm>
            <a:off x="5907024" y="4178808"/>
            <a:ext cx="1143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9536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7095744" y="4050792"/>
            <a:ext cx="960120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9" name="Text 107"/>
          <p:cNvSpPr/>
          <p:nvPr/>
        </p:nvSpPr>
        <p:spPr>
          <a:xfrm>
            <a:off x="7141464" y="4178808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164,93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8055864" y="4050792"/>
            <a:ext cx="1325880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1" name="Text 109"/>
          <p:cNvSpPr/>
          <p:nvPr/>
        </p:nvSpPr>
        <p:spPr>
          <a:xfrm>
            <a:off x="8101584" y="4178808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0,11674350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9381744" y="4050792"/>
            <a:ext cx="2194560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3" name="Text 111"/>
          <p:cNvSpPr/>
          <p:nvPr/>
        </p:nvSpPr>
        <p:spPr>
          <a:xfrm>
            <a:off x="9427464" y="4178808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12A28"/>
                </a:solidFill>
              </a:rPr>
              <a:t>STOP BUDGET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594360" y="4462272"/>
            <a:ext cx="1097280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5" name="Text 113"/>
          <p:cNvSpPr/>
          <p:nvPr/>
        </p:nvSpPr>
        <p:spPr>
          <a:xfrm>
            <a:off x="640080" y="4590288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342"/>
                </a:solidFill>
              </a:rPr>
              <a:t>A2A 2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1691640" y="4462272"/>
            <a:ext cx="548640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7" name="Text 115"/>
          <p:cNvSpPr/>
          <p:nvPr/>
        </p:nvSpPr>
        <p:spPr>
          <a:xfrm>
            <a:off x="1737360" y="459028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8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2240280" y="4462272"/>
            <a:ext cx="1207008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9" name="Text 117"/>
          <p:cNvSpPr/>
          <p:nvPr/>
        </p:nvSpPr>
        <p:spPr>
          <a:xfrm>
            <a:off x="2286000" y="459028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11.681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3447288" y="4462272"/>
            <a:ext cx="1207008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1" name="Text 119"/>
          <p:cNvSpPr/>
          <p:nvPr/>
        </p:nvSpPr>
        <p:spPr>
          <a:xfrm>
            <a:off x="3493008" y="459028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9088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4654296" y="4462272"/>
            <a:ext cx="1207008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3" name="Text 121"/>
          <p:cNvSpPr/>
          <p:nvPr/>
        </p:nvSpPr>
        <p:spPr>
          <a:xfrm>
            <a:off x="4700016" y="4590288"/>
            <a:ext cx="1115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12.384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5861304" y="4462272"/>
            <a:ext cx="1234440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5" name="Text 123"/>
          <p:cNvSpPr/>
          <p:nvPr/>
        </p:nvSpPr>
        <p:spPr>
          <a:xfrm>
            <a:off x="5907024" y="4590288"/>
            <a:ext cx="1143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11.392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7095744" y="4462272"/>
            <a:ext cx="960120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7" name="Text 125"/>
          <p:cNvSpPr/>
          <p:nvPr/>
        </p:nvSpPr>
        <p:spPr>
          <a:xfrm>
            <a:off x="7141464" y="4590288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169,21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8055864" y="4462272"/>
            <a:ext cx="1325880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9" name="Text 127"/>
          <p:cNvSpPr/>
          <p:nvPr/>
        </p:nvSpPr>
        <p:spPr>
          <a:xfrm>
            <a:off x="8101584" y="4590288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342"/>
                </a:solidFill>
              </a:rPr>
              <a:t>0,12821725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9381744" y="4462272"/>
            <a:ext cx="2194560" cy="411480"/>
          </a:xfrm>
          <a:prstGeom prst="rect">
            <a:avLst/>
          </a:prstGeom>
          <a:solidFill>
            <a:srgbClr val="FFF1ED"/>
          </a:solidFill>
          <a:ln w="1016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1" name="Text 129"/>
          <p:cNvSpPr/>
          <p:nvPr/>
        </p:nvSpPr>
        <p:spPr>
          <a:xfrm>
            <a:off x="9427464" y="4590288"/>
            <a:ext cx="2103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12A28"/>
                </a:solidFill>
              </a:rPr>
              <a:t>STOP BUDGET</a:t>
            </a:r>
            <a:endParaRPr lang="en-US" sz="1100" dirty="0"/>
          </a:p>
        </p:txBody>
      </p:sp>
      <p:sp>
        <p:nvSpPr>
          <p:cNvPr id="132" name="Text 130"/>
          <p:cNvSpPr/>
          <p:nvPr/>
        </p:nvSpPr>
        <p:spPr>
          <a:xfrm>
            <a:off x="640080" y="50566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¹ Cached già incluso nell’input.  ² Reasoning già incluso nell’output; output ≠ sola risposta visibile.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Cache write: N/D. Durata end-to-end, non TTFT. Due ripetizioni non sono un benchmark.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076B62"/>
                </a:solidFill>
              </a:rPr>
              <a:t>PRATICHE OPERATIVE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27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3342"/>
                </a:solidFill>
              </a:rPr>
              <a:t>Sette modi per spendere meno senza “tagliare qualità”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3075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A76"/>
                </a:solidFill>
              </a:rPr>
              <a:t>Ottimizza il percorso, non soltanto il prezzo del modello.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0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85800" y="19751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E0CE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7512" y="1901952"/>
            <a:ext cx="530352" cy="530352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58952" y="208483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E0CE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90195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Recupera dati con tool mirati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2585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non copiare il catalogo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9809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E0CE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" y="2907792"/>
            <a:ext cx="530352" cy="530352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58952" y="3090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E0CE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290779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Compatta la history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2644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ma conserva i fatti necessari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9867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E0CE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7512" y="3913632"/>
            <a:ext cx="530352" cy="530352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58952" y="409651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E0CE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391363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Stabilizza il prefisso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27024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e misura la cache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9926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E0CE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7512" y="4919472"/>
            <a:ext cx="530352" cy="530352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58952" y="51023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E0CE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17320" y="491947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Contratto di output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527608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forma e dettaglio espliciti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19751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E0CE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53912" y="1901952"/>
            <a:ext cx="530352" cy="530352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245352" y="208483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E0CE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190195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Limita call e retry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25856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con errori visibili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29809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E0CE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53912" y="2907792"/>
            <a:ext cx="530352" cy="530352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6245352" y="3090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E0CE"/>
                </a:solidFill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03720" y="290779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Route per task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03720" y="32644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Luna/Sol/Astra dopo eval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39867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EE0CE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53912" y="3913632"/>
            <a:ext cx="530352" cy="530352"/>
          </a:xfrm>
          <a:prstGeom prst="ellipse">
            <a:avLst/>
          </a:prstGeom>
          <a:solidFill>
            <a:srgbClr val="102936"/>
          </a:solidFill>
          <a:ln w="12700">
            <a:solidFill>
              <a:srgbClr val="10293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6245352" y="409651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E0CE"/>
                </a:solidFill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03720" y="391363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342"/>
                </a:solidFill>
              </a:rPr>
              <a:t>Misura costo per esito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427024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A76"/>
                </a:solidFill>
              </a:rPr>
              <a:t>non solo per token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507492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E6F4F0"/>
          </a:solidFill>
          <a:ln w="12700">
            <a:solidFill>
              <a:srgbClr val="076B6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446520" y="52943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6B62"/>
                </a:solidFill>
              </a:rPr>
              <a:t>Prima: correttezza e sicurezza. Poi: costo.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F02067-985C-966C-AB19-B0D643820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9494947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6526</Words>
  <Application>Microsoft Office PowerPoint</Application>
  <PresentationFormat>Widescreen</PresentationFormat>
  <Paragraphs>609</Paragraphs>
  <Slides>23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23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Consolas</vt:lpstr>
      <vt:lpstr>Custom Design</vt:lpstr>
      <vt:lpstr>Office Theme</vt:lpstr>
      <vt:lpstr>Osservare l'AI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Parenzan</dc:creator>
  <cp:lastModifiedBy>Andrea Tosato</cp:lastModifiedBy>
  <cp:revision>3</cp:revision>
  <dcterms:created xsi:type="dcterms:W3CDTF">2024-03-28T18:28:31Z</dcterms:created>
  <dcterms:modified xsi:type="dcterms:W3CDTF">2026-09-26T09:28:37Z</dcterms:modified>
</cp:coreProperties>
</file>